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6" r:id="rId4"/>
    <p:sldId id="257" r:id="rId5"/>
    <p:sldId id="258" r:id="rId6"/>
    <p:sldId id="261" r:id="rId7"/>
  </p:sldIdLst>
  <p:sldSz cx="12192000" cy="6858000"/>
  <p:notesSz cx="6858000" cy="9144000"/>
  <p:defaultTextStyle>
    <a:defPPr>
      <a:defRPr lang="fr-M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C060B-91B6-0C84-67AE-5297F9ED6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5AFBB1-2F98-4440-A571-4F3B57064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74821C-4F60-D3D3-6681-5D04B0FB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E5D00C-99C4-B5ED-FBF6-2B1005F1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8A32AC-5A42-468E-8E65-E8A1BCA2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95992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ED4C40-9ED0-B55D-10A2-3744B502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6CC35F-0A0C-CB63-8BB4-CA6348733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2CBB20-7DA4-C25B-5F9F-C871C2721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590E65-6064-6558-358A-FBCC9445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79A7CE-8F5D-E2E1-D646-BE6267EE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402329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AD5A3-DF5C-2E18-A0F9-C0EE11F70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B9C78E-3FC3-B2D3-F342-AE2A77DA8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95887-6AA6-D53F-8853-00D0CE99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153822-E1A3-6AD8-B41D-C64EC6CD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38BE1-2A67-371F-B9AE-D23520BB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013540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3C994D-2A84-AA69-4D9E-C79CEAF7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439EC7-53A5-9D42-EF7A-8501E68E5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CC5B278-9B9F-2504-C0F8-04978FB74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C1F4E5-7BD5-3523-6261-F8FF0C64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887267-D5C0-B9B3-FEF0-B92DD7270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36200F-2DDB-C842-4178-61039A29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79580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D8CA4F-BAC4-24D3-B659-52D9DA7E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10BD95-43CB-A444-06F9-A667E01C8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C1E81B-EBE1-1EC7-6C21-A233448BC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D9F21DD-649F-2238-B607-836A864DA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4542D9-A1D6-CD2F-FDB2-04E1850D5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D8DE7B-903F-6553-6ADE-B8CBEBB4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DD39166-514A-305C-A298-EE62E7025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E09E0EC-BA83-D6D8-9B4F-E9D1C358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31903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BECF5D-6B54-EDCC-9CCF-DD0001F7D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D032BB-748D-0DF3-D9AD-495E13B7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CF99BB-7DCB-5E1A-517A-5564441B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3D80658-D571-121B-6421-12C5821B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609254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1E66E57-6721-E1A1-BA89-001491AC6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54F78E-0AF2-4E84-0F74-25007167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03E3D-2216-D00A-4CE1-0CC4BBE2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292136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F8B231-AB40-AB20-B7E2-46107B60E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005B61-5B54-9FF1-95D3-D92C18697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53D263-6E45-C503-A391-1A5F2F8BA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4D95C2-28EA-D480-168A-E42A23784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1CF632-D570-7E5B-33AE-F46BE9AE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4AC2E4-9F7A-6EAA-43C5-850B0854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507237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DD8BAC-6B76-2360-9D96-975D374D4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9B35561-300F-90C3-9AF7-AE1C75638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BCFA09-55C2-0EB9-614E-6DF3DB57A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B5657F-D123-CCD0-AE19-8E2D6022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1BA96F-F3E3-E8BA-E242-7A2B9C85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D5FFEF-3935-CD1D-21AD-05C6AB92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46030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0B5C78-CA56-696F-E9F9-0F5587BC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A80EA5-0314-5945-627B-87AEA20C3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E77F74-395C-D54C-A488-E3D86F0A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335BEF-2D1D-A735-C499-BA6D4046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7A8D1-4B66-C40E-C252-B9F8FEDE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00262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717EDD8-2E8C-9952-0496-EA4D4E2EF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F82B80-6CD7-891D-534C-1A1D6318A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F4131F-4BFE-BA26-7B23-439A11C3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B11F3C-FAB8-4976-886E-FE28996C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5D74FB-235D-D566-7722-74CA00BE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57747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981524E-3E35-21B4-8826-8039A724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104065-DF3B-A7F6-AF94-16DA1B7A1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69FA61-87DC-1F61-016F-086390A36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D076F-88A5-4DB9-8162-0AE97D595E3D}" type="datetimeFigureOut">
              <a:rPr lang="fr-MG" smtClean="0"/>
              <a:t>07/03/2026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911DB7-1A54-2222-00E6-03BD52DCE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A533AF-1E84-DBD1-919E-2E3A5A30D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06D39-E21B-4AC4-9A8C-58DE1B88913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03188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A0B4EE-F14D-FFB6-EAB6-F51FA4CED7E6}"/>
              </a:ext>
            </a:extLst>
          </p:cNvPr>
          <p:cNvSpPr txBox="1">
            <a:spLocks/>
          </p:cNvSpPr>
          <p:nvPr/>
        </p:nvSpPr>
        <p:spPr>
          <a:xfrm>
            <a:off x="3124199" y="1279000"/>
            <a:ext cx="5943600" cy="215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chemeClr val="tx2"/>
                </a:solidFill>
              </a:rPr>
              <a:t>PROCESS SERVICE TECHNIQUE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4D17362-85DB-3F0A-498E-F59EB601D34C}"/>
              </a:ext>
            </a:extLst>
          </p:cNvPr>
          <p:cNvSpPr txBox="1">
            <a:spLocks/>
          </p:cNvSpPr>
          <p:nvPr/>
        </p:nvSpPr>
        <p:spPr>
          <a:xfrm>
            <a:off x="3124199" y="3744409"/>
            <a:ext cx="5943600" cy="9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accent1"/>
                </a:solidFill>
              </a:rPr>
              <a:t>Support technique, Travaux, SAV et Maintenance</a:t>
            </a:r>
          </a:p>
        </p:txBody>
      </p:sp>
      <p:sp>
        <p:nvSpPr>
          <p:cNvPr id="4" name="Accent">
            <a:extLst>
              <a:ext uri="{FF2B5EF4-FFF2-40B4-BE49-F238E27FC236}">
                <a16:creationId xmlns:a16="http://schemas.microsoft.com/office/drawing/2014/main" id="{27DE8EB1-1E5F-939E-5FBA-EFCD9DC867B9}"/>
              </a:ext>
            </a:extLst>
          </p:cNvPr>
          <p:cNvSpPr/>
          <p:nvPr/>
        </p:nvSpPr>
        <p:spPr>
          <a:xfrm>
            <a:off x="3246119" y="3461556"/>
            <a:ext cx="1500000" cy="8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143F812-CD49-85F7-48AE-30BCB6F21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281" y="135000"/>
            <a:ext cx="2107437" cy="828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29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V"/>
          <p:cNvSpPr/>
          <p:nvPr/>
        </p:nvSpPr>
        <p:spPr>
          <a:xfrm>
            <a:off x="1017733" y="2379693"/>
            <a:ext cx="1269819" cy="248192"/>
          </a:xfrm>
          <a:prstGeom prst="roundRect">
            <a:avLst>
              <a:gd name="adj" fmla="val 8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924" b="1">
                <a:solidFill>
                  <a:srgbClr val="FFFFFF"/>
                </a:solidFill>
              </a:rPr>
              <a:t>SAV</a:t>
            </a:r>
          </a:p>
        </p:txBody>
      </p:sp>
      <p:sp>
        <p:nvSpPr>
          <p:cNvPr id="102" name="Reparation"/>
          <p:cNvSpPr/>
          <p:nvPr/>
        </p:nvSpPr>
        <p:spPr>
          <a:xfrm>
            <a:off x="146175" y="2650972"/>
            <a:ext cx="981224" cy="230876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06" b="1">
                <a:solidFill>
                  <a:srgbClr val="833C00"/>
                </a:solidFill>
              </a:rPr>
              <a:t>Réparation</a:t>
            </a:r>
          </a:p>
        </p:txBody>
      </p:sp>
      <p:sp>
        <p:nvSpPr>
          <p:cNvPr id="103" name="Diagnostic"/>
          <p:cNvSpPr/>
          <p:nvPr/>
        </p:nvSpPr>
        <p:spPr>
          <a:xfrm>
            <a:off x="1162030" y="2650972"/>
            <a:ext cx="981224" cy="230876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06" b="1">
                <a:solidFill>
                  <a:srgbClr val="833C00"/>
                </a:solidFill>
              </a:rPr>
              <a:t>Diagnostic</a:t>
            </a:r>
          </a:p>
        </p:txBody>
      </p:sp>
      <p:sp>
        <p:nvSpPr>
          <p:cNvPr id="104" name="Depannage"/>
          <p:cNvSpPr/>
          <p:nvPr/>
        </p:nvSpPr>
        <p:spPr>
          <a:xfrm>
            <a:off x="2177885" y="2650972"/>
            <a:ext cx="981224" cy="230876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06" b="1">
                <a:solidFill>
                  <a:srgbClr val="833C00"/>
                </a:solidFill>
              </a:rPr>
              <a:t>Dépannage</a:t>
            </a:r>
          </a:p>
        </p:txBody>
      </p:sp>
      <p:sp>
        <p:nvSpPr>
          <p:cNvPr id="105" name="Arrow1"/>
          <p:cNvSpPr/>
          <p:nvPr/>
        </p:nvSpPr>
        <p:spPr>
          <a:xfrm>
            <a:off x="1606467" y="2887621"/>
            <a:ext cx="92350" cy="103894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6" name="RespSAV"/>
          <p:cNvSpPr/>
          <p:nvPr/>
        </p:nvSpPr>
        <p:spPr>
          <a:xfrm>
            <a:off x="1017733" y="2991515"/>
            <a:ext cx="1269819" cy="248192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808" b="1">
                <a:solidFill>
                  <a:srgbClr val="FFFFFF"/>
                </a:solidFill>
              </a:rPr>
              <a:t>Resp. SAV</a:t>
            </a:r>
          </a:p>
        </p:txBody>
      </p:sp>
      <p:sp>
        <p:nvSpPr>
          <p:cNvPr id="107" name="Traitement"/>
          <p:cNvSpPr/>
          <p:nvPr/>
        </p:nvSpPr>
        <p:spPr>
          <a:xfrm>
            <a:off x="902295" y="3262794"/>
            <a:ext cx="1500695" cy="248192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577" b="1">
                <a:solidFill>
                  <a:srgbClr val="833C00"/>
                </a:solidFill>
              </a:rPr>
              <a:t>Traitement, vérification historique</a:t>
            </a:r>
          </a:p>
        </p:txBody>
      </p:sp>
      <p:sp>
        <p:nvSpPr>
          <p:cNvPr id="108" name="Arrow2"/>
          <p:cNvSpPr/>
          <p:nvPr/>
        </p:nvSpPr>
        <p:spPr>
          <a:xfrm>
            <a:off x="1606467" y="3516758"/>
            <a:ext cx="92350" cy="103894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9" name="Action"/>
          <p:cNvSpPr/>
          <p:nvPr/>
        </p:nvSpPr>
        <p:spPr>
          <a:xfrm>
            <a:off x="1017733" y="3620652"/>
            <a:ext cx="1269819" cy="248192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808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10" name="Intervention"/>
          <p:cNvSpPr/>
          <p:nvPr/>
        </p:nvSpPr>
        <p:spPr>
          <a:xfrm>
            <a:off x="146175" y="3891932"/>
            <a:ext cx="981224" cy="265508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06" b="1">
                <a:solidFill>
                  <a:srgbClr val="833C00"/>
                </a:solidFill>
              </a:rPr>
              <a:t>Intervention</a:t>
            </a:r>
          </a:p>
        </p:txBody>
      </p:sp>
      <p:sp>
        <p:nvSpPr>
          <p:cNvPr id="111" name="Rapatriement"/>
          <p:cNvSpPr/>
          <p:nvPr/>
        </p:nvSpPr>
        <p:spPr>
          <a:xfrm>
            <a:off x="1162030" y="3891932"/>
            <a:ext cx="981224" cy="265508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577" b="1">
                <a:solidFill>
                  <a:srgbClr val="833C00"/>
                </a:solidFill>
              </a:rPr>
              <a:t>Rapatriement article</a:t>
            </a:r>
          </a:p>
        </p:txBody>
      </p:sp>
      <p:sp>
        <p:nvSpPr>
          <p:cNvPr id="112" name="Assistance"/>
          <p:cNvSpPr/>
          <p:nvPr/>
        </p:nvSpPr>
        <p:spPr>
          <a:xfrm>
            <a:off x="2177885" y="3891932"/>
            <a:ext cx="981224" cy="265508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577" b="1">
                <a:solidFill>
                  <a:srgbClr val="833C00"/>
                </a:solidFill>
              </a:rPr>
              <a:t>Assistance en ligne</a:t>
            </a:r>
          </a:p>
        </p:txBody>
      </p:sp>
      <p:sp>
        <p:nvSpPr>
          <p:cNvPr id="113" name="Arrow3"/>
          <p:cNvSpPr/>
          <p:nvPr/>
        </p:nvSpPr>
        <p:spPr>
          <a:xfrm>
            <a:off x="1606467" y="4163211"/>
            <a:ext cx="92350" cy="103894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4" name="Devis"/>
          <p:cNvSpPr/>
          <p:nvPr/>
        </p:nvSpPr>
        <p:spPr>
          <a:xfrm>
            <a:off x="1017733" y="4267106"/>
            <a:ext cx="1269819" cy="265508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750" b="1">
                <a:solidFill>
                  <a:srgbClr val="FFFFFF"/>
                </a:solidFill>
              </a:rPr>
              <a:t>Devis / Estimation coût</a:t>
            </a:r>
          </a:p>
        </p:txBody>
      </p:sp>
      <p:sp>
        <p:nvSpPr>
          <p:cNvPr id="115" name="Fournisseur"/>
          <p:cNvSpPr/>
          <p:nvPr/>
        </p:nvSpPr>
        <p:spPr>
          <a:xfrm>
            <a:off x="100000" y="4555701"/>
            <a:ext cx="750348" cy="248192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577" b="1">
                <a:solidFill>
                  <a:srgbClr val="833C00"/>
                </a:solidFill>
              </a:rPr>
              <a:t>Fournisseur</a:t>
            </a:r>
          </a:p>
        </p:txBody>
      </p:sp>
      <p:sp>
        <p:nvSpPr>
          <p:cNvPr id="116" name="Prestataire"/>
          <p:cNvSpPr/>
          <p:nvPr/>
        </p:nvSpPr>
        <p:spPr>
          <a:xfrm>
            <a:off x="884979" y="4555701"/>
            <a:ext cx="750348" cy="248192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577" b="1">
                <a:solidFill>
                  <a:srgbClr val="833C00"/>
                </a:solidFill>
              </a:rPr>
              <a:t>Prestataire</a:t>
            </a:r>
          </a:p>
        </p:txBody>
      </p:sp>
      <p:sp>
        <p:nvSpPr>
          <p:cNvPr id="117" name="Import"/>
          <p:cNvSpPr/>
          <p:nvPr/>
        </p:nvSpPr>
        <p:spPr>
          <a:xfrm>
            <a:off x="1669958" y="4555701"/>
            <a:ext cx="750348" cy="248192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577" b="1">
                <a:solidFill>
                  <a:srgbClr val="833C00"/>
                </a:solidFill>
              </a:rPr>
              <a:t>Import</a:t>
            </a:r>
          </a:p>
        </p:txBody>
      </p:sp>
      <p:sp>
        <p:nvSpPr>
          <p:cNvPr id="118" name="Spider"/>
          <p:cNvSpPr/>
          <p:nvPr/>
        </p:nvSpPr>
        <p:spPr>
          <a:xfrm>
            <a:off x="2454937" y="4555701"/>
            <a:ext cx="750348" cy="248192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577" b="1">
                <a:solidFill>
                  <a:srgbClr val="833C00"/>
                </a:solidFill>
              </a:rPr>
              <a:t>Spider</a:t>
            </a:r>
          </a:p>
        </p:txBody>
      </p:sp>
      <p:sp>
        <p:nvSpPr>
          <p:cNvPr id="119" name="Arrow4"/>
          <p:cNvSpPr/>
          <p:nvPr/>
        </p:nvSpPr>
        <p:spPr>
          <a:xfrm>
            <a:off x="1606467" y="4809665"/>
            <a:ext cx="92350" cy="103894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0" name="Fiche"/>
          <p:cNvSpPr/>
          <p:nvPr/>
        </p:nvSpPr>
        <p:spPr>
          <a:xfrm>
            <a:off x="1017733" y="4913559"/>
            <a:ext cx="1269819" cy="265508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750" b="1">
                <a:solidFill>
                  <a:srgbClr val="FFFFFF"/>
                </a:solidFill>
              </a:rPr>
              <a:t>Fiche d'intervention</a:t>
            </a:r>
          </a:p>
        </p:txBody>
      </p:sp>
      <p:sp>
        <p:nvSpPr>
          <p:cNvPr id="121" name="Arrow5"/>
          <p:cNvSpPr/>
          <p:nvPr/>
        </p:nvSpPr>
        <p:spPr>
          <a:xfrm>
            <a:off x="1606467" y="5184838"/>
            <a:ext cx="92350" cy="103894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2" name="Feedback"/>
          <p:cNvSpPr/>
          <p:nvPr/>
        </p:nvSpPr>
        <p:spPr>
          <a:xfrm>
            <a:off x="1017733" y="5288733"/>
            <a:ext cx="1269819" cy="248192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808" b="1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23" name="Arrow6"/>
          <p:cNvSpPr/>
          <p:nvPr/>
        </p:nvSpPr>
        <p:spPr>
          <a:xfrm>
            <a:off x="1606467" y="5542696"/>
            <a:ext cx="92350" cy="103894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4" name="Facturation"/>
          <p:cNvSpPr/>
          <p:nvPr/>
        </p:nvSpPr>
        <p:spPr>
          <a:xfrm>
            <a:off x="1017733" y="5646591"/>
            <a:ext cx="1269819" cy="248192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808" b="1">
                <a:solidFill>
                  <a:srgbClr val="FFFFFF"/>
                </a:solidFill>
              </a:rPr>
              <a:t>Facturation</a:t>
            </a:r>
          </a:p>
        </p:txBody>
      </p:sp>
      <p:sp>
        <p:nvSpPr>
          <p:cNvPr id="125" name="Header"/>
          <p:cNvSpPr/>
          <p:nvPr/>
        </p:nvSpPr>
        <p:spPr>
          <a:xfrm>
            <a:off x="3305284" y="2379693"/>
            <a:ext cx="2655076" cy="230876"/>
          </a:xfrm>
          <a:prstGeom prst="roundRect">
            <a:avLst>
              <a:gd name="adj" fmla="val 6000"/>
            </a:avLst>
          </a:prstGeom>
          <a:solidFill>
            <a:srgbClr val="6A2FD6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808" b="1">
                <a:solidFill>
                  <a:srgbClr val="FFFFFF"/>
                </a:solidFill>
              </a:rPr>
              <a:t>SUPPORT TECHNIQUE</a:t>
            </a:r>
          </a:p>
        </p:txBody>
      </p:sp>
      <p:sp>
        <p:nvSpPr>
          <p:cNvPr id="126" name="ArrL0"/>
          <p:cNvSpPr/>
          <p:nvPr/>
        </p:nvSpPr>
        <p:spPr>
          <a:xfrm>
            <a:off x="3749721" y="2610569"/>
            <a:ext cx="92350" cy="115438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7" name="ArrR0"/>
          <p:cNvSpPr/>
          <p:nvPr/>
        </p:nvSpPr>
        <p:spPr>
          <a:xfrm>
            <a:off x="5423573" y="2610569"/>
            <a:ext cx="92350" cy="115438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8" name="Etude"/>
          <p:cNvSpPr/>
          <p:nvPr/>
        </p:nvSpPr>
        <p:spPr>
          <a:xfrm>
            <a:off x="3305284" y="2754867"/>
            <a:ext cx="981224" cy="24242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750" b="1" dirty="0">
                <a:solidFill>
                  <a:srgbClr val="FFFFFF"/>
                </a:solidFill>
              </a:rPr>
              <a:t>Étude</a:t>
            </a:r>
          </a:p>
        </p:txBody>
      </p:sp>
      <p:sp>
        <p:nvSpPr>
          <p:cNvPr id="129" name="EtudeVisite"/>
          <p:cNvSpPr/>
          <p:nvPr/>
        </p:nvSpPr>
        <p:spPr>
          <a:xfrm>
            <a:off x="4979136" y="2754867"/>
            <a:ext cx="981224" cy="24242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93" b="1">
                <a:solidFill>
                  <a:srgbClr val="FFFFFF"/>
                </a:solidFill>
              </a:rPr>
              <a:t>Étude + visite</a:t>
            </a:r>
          </a:p>
        </p:txBody>
      </p:sp>
      <p:sp>
        <p:nvSpPr>
          <p:cNvPr id="130" name="ArrL1"/>
          <p:cNvSpPr/>
          <p:nvPr/>
        </p:nvSpPr>
        <p:spPr>
          <a:xfrm>
            <a:off x="3749721" y="2997287"/>
            <a:ext cx="92350" cy="103894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1" name="ArrR1"/>
          <p:cNvSpPr/>
          <p:nvPr/>
        </p:nvSpPr>
        <p:spPr>
          <a:xfrm>
            <a:off x="5423573" y="2997287"/>
            <a:ext cx="92350" cy="103894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2" name="Traitement"/>
          <p:cNvSpPr/>
          <p:nvPr/>
        </p:nvSpPr>
        <p:spPr>
          <a:xfrm>
            <a:off x="3305284" y="3101181"/>
            <a:ext cx="981224" cy="242420"/>
          </a:xfrm>
          <a:prstGeom prst="roundRect">
            <a:avLst>
              <a:gd name="adj" fmla="val 8000"/>
            </a:avLst>
          </a:prstGeom>
          <a:solidFill>
            <a:srgbClr val="E4D9FA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06" b="1">
                <a:solidFill>
                  <a:srgbClr val="4A238F"/>
                </a:solidFill>
              </a:rPr>
              <a:t>Traitement</a:t>
            </a:r>
          </a:p>
        </p:txBody>
      </p:sp>
      <p:sp>
        <p:nvSpPr>
          <p:cNvPr id="133" name="Visite"/>
          <p:cNvSpPr/>
          <p:nvPr/>
        </p:nvSpPr>
        <p:spPr>
          <a:xfrm>
            <a:off x="4979136" y="3101181"/>
            <a:ext cx="981224" cy="242420"/>
          </a:xfrm>
          <a:prstGeom prst="roundRect">
            <a:avLst>
              <a:gd name="adj" fmla="val 8000"/>
            </a:avLst>
          </a:prstGeom>
          <a:solidFill>
            <a:srgbClr val="E4D9FA"/>
          </a:solidFill>
          <a:ln>
            <a:noFill/>
          </a:ln>
        </p:spPr>
        <p:txBody>
          <a:bodyPr rtlCol="0" anchor="ctr">
            <a:normAutofit fontScale="92500" lnSpcReduction="10000"/>
          </a:bodyPr>
          <a:lstStyle/>
          <a:p>
            <a:pPr algn="ctr"/>
            <a:r>
              <a:rPr lang="fr-FR" sz="577" b="1">
                <a:solidFill>
                  <a:srgbClr val="4A238F"/>
                </a:solidFill>
              </a:rPr>
              <a:t>Visite</a:t>
            </a:r>
          </a:p>
          <a:p>
            <a:pPr algn="ctr"/>
            <a:r>
              <a:rPr lang="fr-FR" sz="577" b="1">
                <a:solidFill>
                  <a:srgbClr val="4A238F"/>
                </a:solidFill>
              </a:rPr>
              <a:t>(BE, travaux)</a:t>
            </a:r>
          </a:p>
        </p:txBody>
      </p:sp>
      <p:sp>
        <p:nvSpPr>
          <p:cNvPr id="134" name="ArrL2"/>
          <p:cNvSpPr/>
          <p:nvPr/>
        </p:nvSpPr>
        <p:spPr>
          <a:xfrm>
            <a:off x="3749721" y="3343601"/>
            <a:ext cx="92350" cy="103894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5" name="ArrR2"/>
          <p:cNvSpPr/>
          <p:nvPr/>
        </p:nvSpPr>
        <p:spPr>
          <a:xfrm>
            <a:off x="5423573" y="3343601"/>
            <a:ext cx="92350" cy="103894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6" name="OffreL"/>
          <p:cNvSpPr/>
          <p:nvPr/>
        </p:nvSpPr>
        <p:spPr>
          <a:xfrm>
            <a:off x="3305284" y="3447495"/>
            <a:ext cx="981224" cy="277051"/>
          </a:xfrm>
          <a:prstGeom prst="roundRect">
            <a:avLst>
              <a:gd name="adj" fmla="val 8000"/>
            </a:avLst>
          </a:prstGeom>
          <a:solidFill>
            <a:srgbClr val="E4D9FA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577" b="1">
                <a:solidFill>
                  <a:srgbClr val="4A238F"/>
                </a:solidFill>
              </a:rPr>
              <a:t>Offre technique</a:t>
            </a:r>
          </a:p>
        </p:txBody>
      </p:sp>
      <p:sp>
        <p:nvSpPr>
          <p:cNvPr id="137" name="OffreR"/>
          <p:cNvSpPr/>
          <p:nvPr/>
        </p:nvSpPr>
        <p:spPr>
          <a:xfrm>
            <a:off x="4805979" y="3447495"/>
            <a:ext cx="1327538" cy="277051"/>
          </a:xfrm>
          <a:prstGeom prst="roundRect">
            <a:avLst>
              <a:gd name="adj" fmla="val 8000"/>
            </a:avLst>
          </a:prstGeom>
          <a:solidFill>
            <a:srgbClr val="E4D9FA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519" b="1">
                <a:solidFill>
                  <a:srgbClr val="4A238F"/>
                </a:solidFill>
              </a:rPr>
              <a:t>Offre technique (liste matériel, plan)</a:t>
            </a:r>
          </a:p>
          <a:p>
            <a:pPr algn="ctr"/>
            <a:r>
              <a:rPr lang="fr-FR" sz="519" b="1">
                <a:solidFill>
                  <a:srgbClr val="4A238F"/>
                </a:solidFill>
              </a:rPr>
              <a:t>Montant prestation (Resp. travaux)</a:t>
            </a:r>
          </a:p>
        </p:txBody>
      </p:sp>
      <p:sp>
        <p:nvSpPr>
          <p:cNvPr id="138" name="ArrL3"/>
          <p:cNvSpPr/>
          <p:nvPr/>
        </p:nvSpPr>
        <p:spPr>
          <a:xfrm>
            <a:off x="3749721" y="3724547"/>
            <a:ext cx="92350" cy="103894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9" name="ArrR3"/>
          <p:cNvSpPr/>
          <p:nvPr/>
        </p:nvSpPr>
        <p:spPr>
          <a:xfrm>
            <a:off x="5423573" y="3724547"/>
            <a:ext cx="92350" cy="103894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0" name="CommL"/>
          <p:cNvSpPr/>
          <p:nvPr/>
        </p:nvSpPr>
        <p:spPr>
          <a:xfrm>
            <a:off x="3305284" y="3828441"/>
            <a:ext cx="981224" cy="277051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35" b="1">
                <a:solidFill>
                  <a:srgbClr val="FFFFFF"/>
                </a:solidFill>
              </a:rPr>
              <a:t>Commercial</a:t>
            </a:r>
          </a:p>
        </p:txBody>
      </p:sp>
      <p:sp>
        <p:nvSpPr>
          <p:cNvPr id="141" name="CommR"/>
          <p:cNvSpPr/>
          <p:nvPr/>
        </p:nvSpPr>
        <p:spPr>
          <a:xfrm>
            <a:off x="4979136" y="3828441"/>
            <a:ext cx="981224" cy="277051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35" b="1">
                <a:solidFill>
                  <a:srgbClr val="FFFFFF"/>
                </a:solidFill>
              </a:rPr>
              <a:t>Commercial</a:t>
            </a:r>
          </a:p>
        </p:txBody>
      </p:sp>
      <p:sp>
        <p:nvSpPr>
          <p:cNvPr id="142" name="ArrL4"/>
          <p:cNvSpPr/>
          <p:nvPr/>
        </p:nvSpPr>
        <p:spPr>
          <a:xfrm>
            <a:off x="3749721" y="4105492"/>
            <a:ext cx="92350" cy="103894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3" name="ArrR4"/>
          <p:cNvSpPr/>
          <p:nvPr/>
        </p:nvSpPr>
        <p:spPr>
          <a:xfrm>
            <a:off x="5423573" y="4105492"/>
            <a:ext cx="92350" cy="103894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4" name="ClientL"/>
          <p:cNvSpPr/>
          <p:nvPr/>
        </p:nvSpPr>
        <p:spPr>
          <a:xfrm>
            <a:off x="3305284" y="4209387"/>
            <a:ext cx="981224" cy="24242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93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45" name="ClientR"/>
          <p:cNvSpPr/>
          <p:nvPr/>
        </p:nvSpPr>
        <p:spPr>
          <a:xfrm>
            <a:off x="4979136" y="4209387"/>
            <a:ext cx="981224" cy="24242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693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46" name="b10"/>
          <p:cNvSpPr/>
          <p:nvPr/>
        </p:nvSpPr>
        <p:spPr>
          <a:xfrm>
            <a:off x="7849650" y="2379693"/>
            <a:ext cx="2597357" cy="190473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693" b="1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147" name="b11"/>
          <p:cNvSpPr/>
          <p:nvPr/>
        </p:nvSpPr>
        <p:spPr>
          <a:xfrm>
            <a:off x="7763072" y="2674060"/>
            <a:ext cx="1212100" cy="271279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548" b="1" dirty="0">
                <a:solidFill>
                  <a:srgbClr val="FFFFFF"/>
                </a:solidFill>
              </a:rPr>
              <a:t>Petits travaux</a:t>
            </a:r>
          </a:p>
          <a:p>
            <a:pPr algn="ctr"/>
            <a:r>
              <a:rPr lang="fr-FR" sz="548" b="1" dirty="0">
                <a:solidFill>
                  <a:srgbClr val="FFFFFF"/>
                </a:solidFill>
              </a:rPr>
              <a:t>(Spider)</a:t>
            </a:r>
          </a:p>
        </p:txBody>
      </p:sp>
      <p:sp>
        <p:nvSpPr>
          <p:cNvPr id="148" name="b12"/>
          <p:cNvSpPr/>
          <p:nvPr/>
        </p:nvSpPr>
        <p:spPr>
          <a:xfrm>
            <a:off x="9321486" y="2674060"/>
            <a:ext cx="1212100" cy="271279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548" b="1">
                <a:solidFill>
                  <a:srgbClr val="FFFFFF"/>
                </a:solidFill>
              </a:rPr>
              <a:t>Gros travaux</a:t>
            </a:r>
          </a:p>
          <a:p>
            <a:pPr algn="ctr"/>
            <a:r>
              <a:rPr lang="fr-FR" sz="548" b="1">
                <a:solidFill>
                  <a:srgbClr val="FFFFFF"/>
                </a:solidFill>
              </a:rPr>
              <a:t>(Prestataire)</a:t>
            </a:r>
          </a:p>
        </p:txBody>
      </p:sp>
      <p:sp>
        <p:nvSpPr>
          <p:cNvPr id="149" name="b13"/>
          <p:cNvSpPr/>
          <p:nvPr/>
        </p:nvSpPr>
        <p:spPr>
          <a:xfrm>
            <a:off x="7763072" y="3026146"/>
            <a:ext cx="1212100" cy="300139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33" b="1">
                <a:solidFill>
                  <a:srgbClr val="12692A"/>
                </a:solidFill>
              </a:rPr>
              <a:t>Offre technique (BL)</a:t>
            </a:r>
          </a:p>
          <a:p>
            <a:pPr algn="ctr"/>
            <a:r>
              <a:rPr lang="fr-FR" sz="433" b="1">
                <a:solidFill>
                  <a:srgbClr val="12692A"/>
                </a:solidFill>
              </a:rPr>
              <a:t>Montant prestation (Resp. travaux)</a:t>
            </a:r>
          </a:p>
        </p:txBody>
      </p:sp>
      <p:sp>
        <p:nvSpPr>
          <p:cNvPr id="150" name="b14"/>
          <p:cNvSpPr/>
          <p:nvPr/>
        </p:nvSpPr>
        <p:spPr>
          <a:xfrm>
            <a:off x="9321486" y="3026146"/>
            <a:ext cx="1212100" cy="300139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33" b="1">
                <a:solidFill>
                  <a:srgbClr val="12692A"/>
                </a:solidFill>
              </a:rPr>
              <a:t>Offre technique (BL)</a:t>
            </a:r>
          </a:p>
          <a:p>
            <a:pPr algn="ctr"/>
            <a:r>
              <a:rPr lang="fr-FR" sz="433" b="1">
                <a:solidFill>
                  <a:srgbClr val="12692A"/>
                </a:solidFill>
              </a:rPr>
              <a:t>Montant prestation (Prestataire)</a:t>
            </a:r>
          </a:p>
        </p:txBody>
      </p:sp>
      <p:sp>
        <p:nvSpPr>
          <p:cNvPr id="151" name="b15"/>
          <p:cNvSpPr/>
          <p:nvPr/>
        </p:nvSpPr>
        <p:spPr>
          <a:xfrm>
            <a:off x="8542279" y="3395548"/>
            <a:ext cx="1212100" cy="190473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577" b="1">
                <a:solidFill>
                  <a:srgbClr val="FFFFFF"/>
                </a:solidFill>
              </a:rPr>
              <a:t>Commercial</a:t>
            </a:r>
          </a:p>
        </p:txBody>
      </p:sp>
      <p:sp>
        <p:nvSpPr>
          <p:cNvPr id="152" name="b16"/>
          <p:cNvSpPr/>
          <p:nvPr/>
        </p:nvSpPr>
        <p:spPr>
          <a:xfrm>
            <a:off x="8542279" y="3649512"/>
            <a:ext cx="1212100" cy="184701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Client</a:t>
            </a:r>
          </a:p>
        </p:txBody>
      </p:sp>
      <p:sp>
        <p:nvSpPr>
          <p:cNvPr id="153" name="b17"/>
          <p:cNvSpPr/>
          <p:nvPr/>
        </p:nvSpPr>
        <p:spPr>
          <a:xfrm>
            <a:off x="6233517" y="3903476"/>
            <a:ext cx="1212100" cy="196245"/>
          </a:xfrm>
          <a:prstGeom prst="roundRect">
            <a:avLst>
              <a:gd name="adj" fmla="val 6000"/>
            </a:avLst>
          </a:prstGeom>
          <a:solidFill>
            <a:srgbClr val="E30E2E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606" b="1">
                <a:solidFill>
                  <a:srgbClr val="FFFFFF"/>
                </a:solidFill>
              </a:rPr>
              <a:t>NON VALIDE</a:t>
            </a:r>
          </a:p>
        </p:txBody>
      </p:sp>
      <p:sp>
        <p:nvSpPr>
          <p:cNvPr id="154" name="b18"/>
          <p:cNvSpPr/>
          <p:nvPr/>
        </p:nvSpPr>
        <p:spPr>
          <a:xfrm>
            <a:off x="8917452" y="3903476"/>
            <a:ext cx="1212100" cy="196245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606" b="1">
                <a:solidFill>
                  <a:srgbClr val="FFFFFF"/>
                </a:solidFill>
              </a:rPr>
              <a:t>VALIDE</a:t>
            </a:r>
          </a:p>
        </p:txBody>
      </p:sp>
      <p:sp>
        <p:nvSpPr>
          <p:cNvPr id="155" name="b19"/>
          <p:cNvSpPr/>
          <p:nvPr/>
        </p:nvSpPr>
        <p:spPr>
          <a:xfrm>
            <a:off x="6262377" y="4186299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Étude cause</a:t>
            </a:r>
          </a:p>
        </p:txBody>
      </p:sp>
      <p:sp>
        <p:nvSpPr>
          <p:cNvPr id="156" name="b20"/>
          <p:cNvSpPr/>
          <p:nvPr/>
        </p:nvSpPr>
        <p:spPr>
          <a:xfrm>
            <a:off x="6262377" y="4451807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Rattrapage</a:t>
            </a:r>
          </a:p>
        </p:txBody>
      </p:sp>
      <p:sp>
        <p:nvSpPr>
          <p:cNvPr id="157" name="b21"/>
          <p:cNvSpPr/>
          <p:nvPr/>
        </p:nvSpPr>
        <p:spPr>
          <a:xfrm>
            <a:off x="7878510" y="4186299"/>
            <a:ext cx="981224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Spider</a:t>
            </a:r>
          </a:p>
          <a:p>
            <a:pPr algn="ctr"/>
            <a:r>
              <a:rPr lang="fr-FR" sz="491" b="1">
                <a:solidFill>
                  <a:srgbClr val="12692A"/>
                </a:solidFill>
              </a:rPr>
              <a:t>(Petit travaux)</a:t>
            </a:r>
          </a:p>
        </p:txBody>
      </p:sp>
      <p:sp>
        <p:nvSpPr>
          <p:cNvPr id="158" name="b22"/>
          <p:cNvSpPr/>
          <p:nvPr/>
        </p:nvSpPr>
        <p:spPr>
          <a:xfrm>
            <a:off x="10201701" y="4186299"/>
            <a:ext cx="981224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Prestataire</a:t>
            </a:r>
          </a:p>
          <a:p>
            <a:pPr algn="ctr"/>
            <a:r>
              <a:rPr lang="fr-FR" sz="491" b="1">
                <a:solidFill>
                  <a:srgbClr val="12692A"/>
                </a:solidFill>
              </a:rPr>
              <a:t>(gros travaux)</a:t>
            </a:r>
          </a:p>
        </p:txBody>
      </p:sp>
      <p:sp>
        <p:nvSpPr>
          <p:cNvPr id="159" name="b23"/>
          <p:cNvSpPr/>
          <p:nvPr/>
        </p:nvSpPr>
        <p:spPr>
          <a:xfrm>
            <a:off x="7763072" y="4451807"/>
            <a:ext cx="1212100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62" b="1">
                <a:solidFill>
                  <a:srgbClr val="12692A"/>
                </a:solidFill>
              </a:rPr>
              <a:t>Rassemblement matériel</a:t>
            </a:r>
          </a:p>
        </p:txBody>
      </p:sp>
      <p:sp>
        <p:nvSpPr>
          <p:cNvPr id="160" name="b24"/>
          <p:cNvSpPr/>
          <p:nvPr/>
        </p:nvSpPr>
        <p:spPr>
          <a:xfrm>
            <a:off x="7791931" y="4699998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Planning</a:t>
            </a:r>
          </a:p>
        </p:txBody>
      </p:sp>
      <p:sp>
        <p:nvSpPr>
          <p:cNvPr id="161" name="b25"/>
          <p:cNvSpPr/>
          <p:nvPr/>
        </p:nvSpPr>
        <p:spPr>
          <a:xfrm>
            <a:off x="7791931" y="4948190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548" b="1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162" name="b26"/>
          <p:cNvSpPr/>
          <p:nvPr/>
        </p:nvSpPr>
        <p:spPr>
          <a:xfrm>
            <a:off x="7791931" y="5196382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Réception</a:t>
            </a:r>
          </a:p>
        </p:txBody>
      </p:sp>
      <p:sp>
        <p:nvSpPr>
          <p:cNvPr id="163" name="b27"/>
          <p:cNvSpPr/>
          <p:nvPr/>
        </p:nvSpPr>
        <p:spPr>
          <a:xfrm>
            <a:off x="7791931" y="5444574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Facturation</a:t>
            </a:r>
          </a:p>
        </p:txBody>
      </p:sp>
      <p:sp>
        <p:nvSpPr>
          <p:cNvPr id="164" name="b28"/>
          <p:cNvSpPr/>
          <p:nvPr/>
        </p:nvSpPr>
        <p:spPr>
          <a:xfrm>
            <a:off x="9321486" y="4451807"/>
            <a:ext cx="1212100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Matériel compris</a:t>
            </a:r>
          </a:p>
        </p:txBody>
      </p:sp>
      <p:sp>
        <p:nvSpPr>
          <p:cNvPr id="165" name="b29"/>
          <p:cNvSpPr/>
          <p:nvPr/>
        </p:nvSpPr>
        <p:spPr>
          <a:xfrm>
            <a:off x="10851040" y="4451807"/>
            <a:ext cx="1212100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Matériel combiné</a:t>
            </a:r>
          </a:p>
        </p:txBody>
      </p:sp>
      <p:sp>
        <p:nvSpPr>
          <p:cNvPr id="166" name="b30"/>
          <p:cNvSpPr/>
          <p:nvPr/>
        </p:nvSpPr>
        <p:spPr>
          <a:xfrm>
            <a:off x="9350345" y="4699998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Planning</a:t>
            </a:r>
          </a:p>
        </p:txBody>
      </p:sp>
      <p:sp>
        <p:nvSpPr>
          <p:cNvPr id="167" name="b31"/>
          <p:cNvSpPr/>
          <p:nvPr/>
        </p:nvSpPr>
        <p:spPr>
          <a:xfrm>
            <a:off x="9292626" y="4948190"/>
            <a:ext cx="1269819" cy="265508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33" b="1">
                <a:solidFill>
                  <a:srgbClr val="12692A"/>
                </a:solidFill>
              </a:rPr>
              <a:t>Briefing chantier</a:t>
            </a:r>
          </a:p>
          <a:p>
            <a:pPr algn="ctr"/>
            <a:r>
              <a:rPr lang="fr-FR" sz="433" b="1">
                <a:solidFill>
                  <a:srgbClr val="12692A"/>
                </a:solidFill>
              </a:rPr>
              <a:t>(Resp. travaux, client)</a:t>
            </a:r>
          </a:p>
        </p:txBody>
      </p:sp>
      <p:sp>
        <p:nvSpPr>
          <p:cNvPr id="168" name="b32"/>
          <p:cNvSpPr/>
          <p:nvPr/>
        </p:nvSpPr>
        <p:spPr>
          <a:xfrm>
            <a:off x="9350345" y="5236786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548" b="1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169" name="b33"/>
          <p:cNvSpPr/>
          <p:nvPr/>
        </p:nvSpPr>
        <p:spPr>
          <a:xfrm>
            <a:off x="9350345" y="5484977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Réception</a:t>
            </a:r>
          </a:p>
        </p:txBody>
      </p:sp>
      <p:sp>
        <p:nvSpPr>
          <p:cNvPr id="170" name="b34"/>
          <p:cNvSpPr/>
          <p:nvPr/>
        </p:nvSpPr>
        <p:spPr>
          <a:xfrm>
            <a:off x="9350345" y="5733169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Facturation</a:t>
            </a:r>
          </a:p>
        </p:txBody>
      </p:sp>
      <p:sp>
        <p:nvSpPr>
          <p:cNvPr id="171" name="b35"/>
          <p:cNvSpPr/>
          <p:nvPr/>
        </p:nvSpPr>
        <p:spPr>
          <a:xfrm>
            <a:off x="10851040" y="4699998"/>
            <a:ext cx="1212100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62" b="1">
                <a:solidFill>
                  <a:srgbClr val="12692A"/>
                </a:solidFill>
              </a:rPr>
              <a:t>Rassemblement matériel</a:t>
            </a:r>
          </a:p>
        </p:txBody>
      </p:sp>
      <p:sp>
        <p:nvSpPr>
          <p:cNvPr id="172" name="b36"/>
          <p:cNvSpPr/>
          <p:nvPr/>
        </p:nvSpPr>
        <p:spPr>
          <a:xfrm>
            <a:off x="10879900" y="4948190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Planning</a:t>
            </a:r>
          </a:p>
        </p:txBody>
      </p:sp>
      <p:sp>
        <p:nvSpPr>
          <p:cNvPr id="173" name="b37"/>
          <p:cNvSpPr/>
          <p:nvPr/>
        </p:nvSpPr>
        <p:spPr>
          <a:xfrm>
            <a:off x="10822181" y="5196382"/>
            <a:ext cx="1269819" cy="253964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33" b="1">
                <a:solidFill>
                  <a:srgbClr val="12692A"/>
                </a:solidFill>
              </a:rPr>
              <a:t>Briefing chantier</a:t>
            </a:r>
          </a:p>
          <a:p>
            <a:pPr algn="ctr"/>
            <a:r>
              <a:rPr lang="fr-FR" sz="433" b="1">
                <a:solidFill>
                  <a:srgbClr val="12692A"/>
                </a:solidFill>
              </a:rPr>
              <a:t>(Resp. travaux, prestataire)</a:t>
            </a:r>
          </a:p>
        </p:txBody>
      </p:sp>
      <p:sp>
        <p:nvSpPr>
          <p:cNvPr id="174" name="b38"/>
          <p:cNvSpPr/>
          <p:nvPr/>
        </p:nvSpPr>
        <p:spPr>
          <a:xfrm>
            <a:off x="10879900" y="5484977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548" b="1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175" name="b39"/>
          <p:cNvSpPr/>
          <p:nvPr/>
        </p:nvSpPr>
        <p:spPr>
          <a:xfrm>
            <a:off x="10879900" y="5733169"/>
            <a:ext cx="1154381" cy="190473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Réception</a:t>
            </a:r>
          </a:p>
        </p:txBody>
      </p:sp>
      <p:sp>
        <p:nvSpPr>
          <p:cNvPr id="176" name="b40"/>
          <p:cNvSpPr/>
          <p:nvPr/>
        </p:nvSpPr>
        <p:spPr>
          <a:xfrm>
            <a:off x="10879900" y="5981361"/>
            <a:ext cx="1154381" cy="178929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20779" tIns="10389" rIns="20779" bIns="10389" rtlCol="0" anchor="ctr">
            <a:normAutofit/>
          </a:bodyPr>
          <a:lstStyle/>
          <a:p>
            <a:pPr algn="ctr"/>
            <a:r>
              <a:rPr lang="fr-FR" sz="491" b="1">
                <a:solidFill>
                  <a:srgbClr val="12692A"/>
                </a:solidFill>
              </a:rPr>
              <a:t>Facturation</a:t>
            </a:r>
          </a:p>
        </p:txBody>
      </p:sp>
      <p:sp>
        <p:nvSpPr>
          <p:cNvPr id="177" name="c41"/>
          <p:cNvSpPr/>
          <p:nvPr/>
        </p:nvSpPr>
        <p:spPr>
          <a:xfrm>
            <a:off x="9141114" y="2570166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8" name="c42"/>
          <p:cNvSpPr/>
          <p:nvPr/>
        </p:nvSpPr>
        <p:spPr>
          <a:xfrm>
            <a:off x="8369122" y="2627885"/>
            <a:ext cx="1558414" cy="1443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9" name="c43"/>
          <p:cNvSpPr/>
          <p:nvPr/>
        </p:nvSpPr>
        <p:spPr>
          <a:xfrm>
            <a:off x="8361907" y="2627885"/>
            <a:ext cx="14430" cy="46175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0" name="c44"/>
          <p:cNvSpPr/>
          <p:nvPr/>
        </p:nvSpPr>
        <p:spPr>
          <a:xfrm>
            <a:off x="9920321" y="2627885"/>
            <a:ext cx="14430" cy="46175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1" name="c45"/>
          <p:cNvSpPr/>
          <p:nvPr/>
        </p:nvSpPr>
        <p:spPr>
          <a:xfrm>
            <a:off x="8361907" y="2945340"/>
            <a:ext cx="14430" cy="80807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2" name="c46"/>
          <p:cNvSpPr/>
          <p:nvPr/>
        </p:nvSpPr>
        <p:spPr>
          <a:xfrm>
            <a:off x="9920321" y="2945340"/>
            <a:ext cx="14430" cy="80807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3" name="c47"/>
          <p:cNvSpPr/>
          <p:nvPr/>
        </p:nvSpPr>
        <p:spPr>
          <a:xfrm>
            <a:off x="8361907" y="3326285"/>
            <a:ext cx="14430" cy="40403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4" name="c48"/>
          <p:cNvSpPr/>
          <p:nvPr/>
        </p:nvSpPr>
        <p:spPr>
          <a:xfrm>
            <a:off x="9920321" y="3326285"/>
            <a:ext cx="14430" cy="40403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5" name="c49"/>
          <p:cNvSpPr/>
          <p:nvPr/>
        </p:nvSpPr>
        <p:spPr>
          <a:xfrm>
            <a:off x="8369122" y="3366689"/>
            <a:ext cx="1558414" cy="1443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6" name="c50"/>
          <p:cNvSpPr/>
          <p:nvPr/>
        </p:nvSpPr>
        <p:spPr>
          <a:xfrm>
            <a:off x="9141114" y="3366689"/>
            <a:ext cx="14430" cy="2886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7" name="c51"/>
          <p:cNvSpPr/>
          <p:nvPr/>
        </p:nvSpPr>
        <p:spPr>
          <a:xfrm>
            <a:off x="9141114" y="3586021"/>
            <a:ext cx="14430" cy="63491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8" name="c52"/>
          <p:cNvSpPr/>
          <p:nvPr/>
        </p:nvSpPr>
        <p:spPr>
          <a:xfrm>
            <a:off x="9141114" y="3834213"/>
            <a:ext cx="14430" cy="34631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9" name="c53"/>
          <p:cNvSpPr/>
          <p:nvPr/>
        </p:nvSpPr>
        <p:spPr>
          <a:xfrm>
            <a:off x="6839567" y="3868844"/>
            <a:ext cx="2683935" cy="1443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0" name="c54"/>
          <p:cNvSpPr/>
          <p:nvPr/>
        </p:nvSpPr>
        <p:spPr>
          <a:xfrm>
            <a:off x="6832352" y="3868844"/>
            <a:ext cx="14430" cy="34631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1" name="c55"/>
          <p:cNvSpPr/>
          <p:nvPr/>
        </p:nvSpPr>
        <p:spPr>
          <a:xfrm>
            <a:off x="9516287" y="3868844"/>
            <a:ext cx="14430" cy="34631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2" name="c56"/>
          <p:cNvSpPr/>
          <p:nvPr/>
        </p:nvSpPr>
        <p:spPr>
          <a:xfrm>
            <a:off x="6832352" y="4099720"/>
            <a:ext cx="14430" cy="8657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3" name="c57"/>
          <p:cNvSpPr/>
          <p:nvPr/>
        </p:nvSpPr>
        <p:spPr>
          <a:xfrm>
            <a:off x="6832352" y="4376772"/>
            <a:ext cx="14430" cy="75035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4" name="c58"/>
          <p:cNvSpPr/>
          <p:nvPr/>
        </p:nvSpPr>
        <p:spPr>
          <a:xfrm>
            <a:off x="9516287" y="4099720"/>
            <a:ext cx="14430" cy="34631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5" name="c59"/>
          <p:cNvSpPr/>
          <p:nvPr/>
        </p:nvSpPr>
        <p:spPr>
          <a:xfrm>
            <a:off x="8369122" y="4134352"/>
            <a:ext cx="2323191" cy="1443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6" name="c60"/>
          <p:cNvSpPr/>
          <p:nvPr/>
        </p:nvSpPr>
        <p:spPr>
          <a:xfrm>
            <a:off x="8361907" y="4134352"/>
            <a:ext cx="14430" cy="51947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7" name="c61"/>
          <p:cNvSpPr/>
          <p:nvPr/>
        </p:nvSpPr>
        <p:spPr>
          <a:xfrm>
            <a:off x="10685098" y="4134352"/>
            <a:ext cx="14430" cy="51947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8" name="c62"/>
          <p:cNvSpPr/>
          <p:nvPr/>
        </p:nvSpPr>
        <p:spPr>
          <a:xfrm>
            <a:off x="8361907" y="4376772"/>
            <a:ext cx="14430" cy="75035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9" name="c63"/>
          <p:cNvSpPr/>
          <p:nvPr/>
        </p:nvSpPr>
        <p:spPr>
          <a:xfrm>
            <a:off x="8361907" y="4642279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0" name="c64"/>
          <p:cNvSpPr/>
          <p:nvPr/>
        </p:nvSpPr>
        <p:spPr>
          <a:xfrm>
            <a:off x="8361907" y="4890471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1" name="c65"/>
          <p:cNvSpPr/>
          <p:nvPr/>
        </p:nvSpPr>
        <p:spPr>
          <a:xfrm>
            <a:off x="8361907" y="5138663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c66"/>
          <p:cNvSpPr/>
          <p:nvPr/>
        </p:nvSpPr>
        <p:spPr>
          <a:xfrm>
            <a:off x="8361907" y="5386855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3" name="c67"/>
          <p:cNvSpPr/>
          <p:nvPr/>
        </p:nvSpPr>
        <p:spPr>
          <a:xfrm>
            <a:off x="10685098" y="4376772"/>
            <a:ext cx="14430" cy="40403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4" name="c68"/>
          <p:cNvSpPr/>
          <p:nvPr/>
        </p:nvSpPr>
        <p:spPr>
          <a:xfrm>
            <a:off x="9927536" y="4417175"/>
            <a:ext cx="1529555" cy="1443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c69"/>
          <p:cNvSpPr/>
          <p:nvPr/>
        </p:nvSpPr>
        <p:spPr>
          <a:xfrm>
            <a:off x="9920321" y="4417175"/>
            <a:ext cx="14430" cy="34631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6" name="c70"/>
          <p:cNvSpPr/>
          <p:nvPr/>
        </p:nvSpPr>
        <p:spPr>
          <a:xfrm>
            <a:off x="11449875" y="4417175"/>
            <a:ext cx="14430" cy="34631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7" name="c71"/>
          <p:cNvSpPr/>
          <p:nvPr/>
        </p:nvSpPr>
        <p:spPr>
          <a:xfrm>
            <a:off x="9920321" y="4642279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8" name="c72"/>
          <p:cNvSpPr/>
          <p:nvPr/>
        </p:nvSpPr>
        <p:spPr>
          <a:xfrm>
            <a:off x="9920321" y="4890471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9" name="c73"/>
          <p:cNvSpPr/>
          <p:nvPr/>
        </p:nvSpPr>
        <p:spPr>
          <a:xfrm>
            <a:off x="9920321" y="5213698"/>
            <a:ext cx="14430" cy="23088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0" name="c74"/>
          <p:cNvSpPr/>
          <p:nvPr/>
        </p:nvSpPr>
        <p:spPr>
          <a:xfrm>
            <a:off x="9920321" y="5427258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1" name="c75"/>
          <p:cNvSpPr/>
          <p:nvPr/>
        </p:nvSpPr>
        <p:spPr>
          <a:xfrm>
            <a:off x="9920321" y="5675450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2" name="c76"/>
          <p:cNvSpPr/>
          <p:nvPr/>
        </p:nvSpPr>
        <p:spPr>
          <a:xfrm>
            <a:off x="11449875" y="4642279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3" name="c77"/>
          <p:cNvSpPr/>
          <p:nvPr/>
        </p:nvSpPr>
        <p:spPr>
          <a:xfrm>
            <a:off x="11449875" y="4890471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4" name="c78"/>
          <p:cNvSpPr/>
          <p:nvPr/>
        </p:nvSpPr>
        <p:spPr>
          <a:xfrm>
            <a:off x="11449875" y="5138663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5" name="c79"/>
          <p:cNvSpPr/>
          <p:nvPr/>
        </p:nvSpPr>
        <p:spPr>
          <a:xfrm>
            <a:off x="11449875" y="5450346"/>
            <a:ext cx="14430" cy="34631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6" name="c80"/>
          <p:cNvSpPr/>
          <p:nvPr/>
        </p:nvSpPr>
        <p:spPr>
          <a:xfrm>
            <a:off x="11449875" y="5675450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7" name="c81"/>
          <p:cNvSpPr/>
          <p:nvPr/>
        </p:nvSpPr>
        <p:spPr>
          <a:xfrm>
            <a:off x="11449875" y="5923642"/>
            <a:ext cx="14430" cy="57719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614105-5E67-6BED-0221-291930E4DDB6}"/>
              </a:ext>
            </a:extLst>
          </p:cNvPr>
          <p:cNvSpPr/>
          <p:nvPr/>
        </p:nvSpPr>
        <p:spPr>
          <a:xfrm>
            <a:off x="3968883" y="433599"/>
            <a:ext cx="1789889" cy="34727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808" b="1" dirty="0">
                <a:solidFill>
                  <a:srgbClr val="FFFFFF"/>
                </a:solidFill>
              </a:rPr>
              <a:t>DEMANDE</a:t>
            </a:r>
          </a:p>
          <a:p>
            <a:pPr algn="ctr"/>
            <a:r>
              <a:rPr lang="fr-FR" sz="808" b="1" dirty="0">
                <a:solidFill>
                  <a:srgbClr val="FFFFFF"/>
                </a:solidFill>
              </a:rPr>
              <a:t>(Client, commercial)</a:t>
            </a:r>
            <a:endParaRPr lang="fr-MG" sz="808" b="1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20B106-C2E1-2A44-3EDC-3EFD9306A442}"/>
              </a:ext>
            </a:extLst>
          </p:cNvPr>
          <p:cNvSpPr/>
          <p:nvPr/>
        </p:nvSpPr>
        <p:spPr>
          <a:xfrm>
            <a:off x="3968883" y="1545711"/>
            <a:ext cx="1789889" cy="34727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808" b="1" dirty="0">
                <a:solidFill>
                  <a:srgbClr val="FFFFFF"/>
                </a:solidFill>
              </a:rPr>
              <a:t>Service technique</a:t>
            </a:r>
            <a:endParaRPr lang="fr-MG" sz="808" b="1" dirty="0">
              <a:solidFill>
                <a:srgbClr val="FFFFFF"/>
              </a:solidFill>
            </a:endParaRP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CFD1250-A7AB-B77C-E576-6F7068A6049E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4863828" y="780875"/>
            <a:ext cx="0" cy="764836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17A2790-AD04-6C66-EF57-195E027B9961}"/>
              </a:ext>
            </a:extLst>
          </p:cNvPr>
          <p:cNvCxnSpPr>
            <a:cxnSpLocks/>
          </p:cNvCxnSpPr>
          <p:nvPr/>
        </p:nvCxnSpPr>
        <p:spPr>
          <a:xfrm>
            <a:off x="1536970" y="2071328"/>
            <a:ext cx="785994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56D72F6-6DD8-5A7D-6F45-B7429B59A1AF}"/>
              </a:ext>
            </a:extLst>
          </p:cNvPr>
          <p:cNvCxnSpPr/>
          <p:nvPr/>
        </p:nvCxnSpPr>
        <p:spPr>
          <a:xfrm>
            <a:off x="1536970" y="2071328"/>
            <a:ext cx="0" cy="252919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A484DDBF-F28E-2B62-E011-61E496BBC2C6}"/>
              </a:ext>
            </a:extLst>
          </p:cNvPr>
          <p:cNvCxnSpPr/>
          <p:nvPr/>
        </p:nvCxnSpPr>
        <p:spPr>
          <a:xfrm>
            <a:off x="4863827" y="2071328"/>
            <a:ext cx="0" cy="252919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775EB52-B2E1-F3FC-D5BC-C7FA4204D1A4}"/>
              </a:ext>
            </a:extLst>
          </p:cNvPr>
          <p:cNvCxnSpPr/>
          <p:nvPr/>
        </p:nvCxnSpPr>
        <p:spPr>
          <a:xfrm>
            <a:off x="9396919" y="2071328"/>
            <a:ext cx="0" cy="252919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2FD45EA-B92A-5B6D-E2D3-B6E0941D6A52}"/>
              </a:ext>
            </a:extLst>
          </p:cNvPr>
          <p:cNvCxnSpPr>
            <a:stCxn id="5" idx="2"/>
          </p:cNvCxnSpPr>
          <p:nvPr/>
        </p:nvCxnSpPr>
        <p:spPr>
          <a:xfrm flipH="1">
            <a:off x="4863827" y="1892987"/>
            <a:ext cx="1" cy="178341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box104">
            <a:extLst>
              <a:ext uri="{FF2B5EF4-FFF2-40B4-BE49-F238E27FC236}">
                <a16:creationId xmlns:a16="http://schemas.microsoft.com/office/drawing/2014/main" id="{381B4BDC-3A99-96A4-C9EE-189831B21AF6}"/>
              </a:ext>
            </a:extLst>
          </p:cNvPr>
          <p:cNvSpPr/>
          <p:nvPr/>
        </p:nvSpPr>
        <p:spPr>
          <a:xfrm>
            <a:off x="3519215" y="971348"/>
            <a:ext cx="981224" cy="380946"/>
          </a:xfrm>
          <a:prstGeom prst="roundRect">
            <a:avLst>
              <a:gd name="adj" fmla="val 8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lIns="46800" tIns="18000" rIns="46800" bIns="18000" rtlCol="0" anchor="ctr">
            <a:normAutofit fontScale="92500"/>
          </a:bodyPr>
          <a:lstStyle/>
          <a:p>
            <a:pPr algn="ctr"/>
            <a:r>
              <a:rPr lang="fr-FR" sz="900" b="1" dirty="0">
                <a:solidFill>
                  <a:schemeClr val="bg1"/>
                </a:solidFill>
              </a:rPr>
              <a:t>Mail avec formulaire rempli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AV"/>
          <p:cNvSpPr/>
          <p:nvPr/>
        </p:nvSpPr>
        <p:spPr>
          <a:xfrm>
            <a:off x="4996000" y="300000"/>
            <a:ext cx="2200000" cy="430000"/>
          </a:xfrm>
          <a:prstGeom prst="roundRect">
            <a:avLst>
              <a:gd name="adj" fmla="val 8000"/>
            </a:avLst>
          </a:prstGeom>
          <a:solidFill>
            <a:srgbClr val="E8590C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600" b="1" dirty="0">
                <a:solidFill>
                  <a:srgbClr val="FFFFFF"/>
                </a:solidFill>
              </a:rPr>
              <a:t>SAV</a:t>
            </a:r>
          </a:p>
        </p:txBody>
      </p:sp>
      <p:sp>
        <p:nvSpPr>
          <p:cNvPr id="11" name="Reparation"/>
          <p:cNvSpPr/>
          <p:nvPr/>
        </p:nvSpPr>
        <p:spPr>
          <a:xfrm>
            <a:off x="3486000" y="770000"/>
            <a:ext cx="1700000" cy="40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50" b="1" dirty="0">
                <a:solidFill>
                  <a:srgbClr val="833C00"/>
                </a:solidFill>
              </a:rPr>
              <a:t>Réparation</a:t>
            </a:r>
          </a:p>
        </p:txBody>
      </p:sp>
      <p:sp>
        <p:nvSpPr>
          <p:cNvPr id="12" name="Diagnostic"/>
          <p:cNvSpPr/>
          <p:nvPr/>
        </p:nvSpPr>
        <p:spPr>
          <a:xfrm>
            <a:off x="5246000" y="770000"/>
            <a:ext cx="1700000" cy="40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50" b="1" dirty="0">
                <a:solidFill>
                  <a:srgbClr val="833C00"/>
                </a:solidFill>
              </a:rPr>
              <a:t>Diagnostic</a:t>
            </a:r>
          </a:p>
        </p:txBody>
      </p:sp>
      <p:sp>
        <p:nvSpPr>
          <p:cNvPr id="13" name="Depannage"/>
          <p:cNvSpPr/>
          <p:nvPr/>
        </p:nvSpPr>
        <p:spPr>
          <a:xfrm>
            <a:off x="7006000" y="770000"/>
            <a:ext cx="1700000" cy="40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50" b="1" dirty="0">
                <a:solidFill>
                  <a:srgbClr val="833C00"/>
                </a:solidFill>
              </a:rPr>
              <a:t>Dépannage</a:t>
            </a:r>
          </a:p>
        </p:txBody>
      </p:sp>
      <p:sp>
        <p:nvSpPr>
          <p:cNvPr id="14" name="Arrow1"/>
          <p:cNvSpPr/>
          <p:nvPr/>
        </p:nvSpPr>
        <p:spPr>
          <a:xfrm>
            <a:off x="6016000" y="1180000"/>
            <a:ext cx="160000" cy="18000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" name="RespSAV"/>
          <p:cNvSpPr/>
          <p:nvPr/>
        </p:nvSpPr>
        <p:spPr>
          <a:xfrm>
            <a:off x="4996000" y="1360000"/>
            <a:ext cx="2200000" cy="43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</a:rPr>
              <a:t>Resp. SAV</a:t>
            </a:r>
          </a:p>
        </p:txBody>
      </p:sp>
      <p:sp>
        <p:nvSpPr>
          <p:cNvPr id="16" name="Traitement"/>
          <p:cNvSpPr/>
          <p:nvPr/>
        </p:nvSpPr>
        <p:spPr>
          <a:xfrm>
            <a:off x="4796000" y="1830000"/>
            <a:ext cx="2600000" cy="43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833C00"/>
                </a:solidFill>
              </a:rPr>
              <a:t>Traitement, vérification historique</a:t>
            </a:r>
          </a:p>
        </p:txBody>
      </p:sp>
      <p:sp>
        <p:nvSpPr>
          <p:cNvPr id="17" name="Arrow2"/>
          <p:cNvSpPr/>
          <p:nvPr/>
        </p:nvSpPr>
        <p:spPr>
          <a:xfrm>
            <a:off x="6016000" y="2270000"/>
            <a:ext cx="160000" cy="18000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" name="Action"/>
          <p:cNvSpPr/>
          <p:nvPr/>
        </p:nvSpPr>
        <p:spPr>
          <a:xfrm>
            <a:off x="4996000" y="2450000"/>
            <a:ext cx="2200000" cy="43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9" name="Intervention"/>
          <p:cNvSpPr/>
          <p:nvPr/>
        </p:nvSpPr>
        <p:spPr>
          <a:xfrm>
            <a:off x="3486000" y="2920000"/>
            <a:ext cx="1700000" cy="46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50" b="1" dirty="0">
                <a:solidFill>
                  <a:srgbClr val="833C00"/>
                </a:solidFill>
              </a:rPr>
              <a:t>Intervention</a:t>
            </a:r>
          </a:p>
        </p:txBody>
      </p:sp>
      <p:sp>
        <p:nvSpPr>
          <p:cNvPr id="20" name="Rapatriement"/>
          <p:cNvSpPr/>
          <p:nvPr/>
        </p:nvSpPr>
        <p:spPr>
          <a:xfrm>
            <a:off x="5246000" y="2920000"/>
            <a:ext cx="1700000" cy="46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833C00"/>
                </a:solidFill>
              </a:rPr>
              <a:t>Rapatriement article</a:t>
            </a:r>
          </a:p>
        </p:txBody>
      </p:sp>
      <p:sp>
        <p:nvSpPr>
          <p:cNvPr id="21" name="Assistance"/>
          <p:cNvSpPr/>
          <p:nvPr/>
        </p:nvSpPr>
        <p:spPr>
          <a:xfrm>
            <a:off x="7006000" y="2920000"/>
            <a:ext cx="1700000" cy="46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833C00"/>
                </a:solidFill>
              </a:rPr>
              <a:t>Assistance en ligne</a:t>
            </a:r>
          </a:p>
        </p:txBody>
      </p:sp>
      <p:sp>
        <p:nvSpPr>
          <p:cNvPr id="22" name="Arrow3"/>
          <p:cNvSpPr/>
          <p:nvPr/>
        </p:nvSpPr>
        <p:spPr>
          <a:xfrm>
            <a:off x="6016000" y="3390000"/>
            <a:ext cx="160000" cy="18000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3" name="Devis"/>
          <p:cNvSpPr/>
          <p:nvPr/>
        </p:nvSpPr>
        <p:spPr>
          <a:xfrm>
            <a:off x="4996000" y="3570000"/>
            <a:ext cx="2200000" cy="4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300" b="1" dirty="0">
                <a:solidFill>
                  <a:srgbClr val="FFFFFF"/>
                </a:solidFill>
              </a:rPr>
              <a:t>Devis / Estimation coût</a:t>
            </a:r>
          </a:p>
        </p:txBody>
      </p:sp>
      <p:sp>
        <p:nvSpPr>
          <p:cNvPr id="24" name="Fournisseur"/>
          <p:cNvSpPr/>
          <p:nvPr/>
        </p:nvSpPr>
        <p:spPr>
          <a:xfrm>
            <a:off x="3406000" y="4070000"/>
            <a:ext cx="1300000" cy="43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833C00"/>
                </a:solidFill>
              </a:rPr>
              <a:t>Fournisseur</a:t>
            </a:r>
          </a:p>
        </p:txBody>
      </p:sp>
      <p:sp>
        <p:nvSpPr>
          <p:cNvPr id="25" name="Prestataire"/>
          <p:cNvSpPr/>
          <p:nvPr/>
        </p:nvSpPr>
        <p:spPr>
          <a:xfrm>
            <a:off x="4766000" y="4070000"/>
            <a:ext cx="1300000" cy="43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833C00"/>
                </a:solidFill>
              </a:rPr>
              <a:t>Prestataire</a:t>
            </a:r>
          </a:p>
        </p:txBody>
      </p:sp>
      <p:sp>
        <p:nvSpPr>
          <p:cNvPr id="26" name="Import"/>
          <p:cNvSpPr/>
          <p:nvPr/>
        </p:nvSpPr>
        <p:spPr>
          <a:xfrm>
            <a:off x="6126000" y="4070000"/>
            <a:ext cx="1300000" cy="43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833C00"/>
                </a:solidFill>
              </a:rPr>
              <a:t>Import</a:t>
            </a:r>
          </a:p>
        </p:txBody>
      </p:sp>
      <p:sp>
        <p:nvSpPr>
          <p:cNvPr id="27" name="Spider"/>
          <p:cNvSpPr/>
          <p:nvPr/>
        </p:nvSpPr>
        <p:spPr>
          <a:xfrm>
            <a:off x="7486000" y="4070000"/>
            <a:ext cx="1300000" cy="430000"/>
          </a:xfrm>
          <a:prstGeom prst="roundRect">
            <a:avLst>
              <a:gd name="adj" fmla="val 8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833C00"/>
                </a:solidFill>
              </a:rPr>
              <a:t>Spider</a:t>
            </a:r>
          </a:p>
        </p:txBody>
      </p:sp>
      <p:sp>
        <p:nvSpPr>
          <p:cNvPr id="28" name="Arrow4"/>
          <p:cNvSpPr/>
          <p:nvPr/>
        </p:nvSpPr>
        <p:spPr>
          <a:xfrm>
            <a:off x="6016000" y="4510000"/>
            <a:ext cx="160000" cy="18000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" name="Fiche"/>
          <p:cNvSpPr/>
          <p:nvPr/>
        </p:nvSpPr>
        <p:spPr>
          <a:xfrm>
            <a:off x="4996000" y="4690000"/>
            <a:ext cx="2200000" cy="4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300" b="1" dirty="0">
                <a:solidFill>
                  <a:srgbClr val="FFFFFF"/>
                </a:solidFill>
              </a:rPr>
              <a:t>Fiche d'intervention</a:t>
            </a:r>
          </a:p>
        </p:txBody>
      </p:sp>
      <p:sp>
        <p:nvSpPr>
          <p:cNvPr id="30" name="Arrow5"/>
          <p:cNvSpPr/>
          <p:nvPr/>
        </p:nvSpPr>
        <p:spPr>
          <a:xfrm>
            <a:off x="6016000" y="5160000"/>
            <a:ext cx="160000" cy="18000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1" name="Feedback"/>
          <p:cNvSpPr/>
          <p:nvPr/>
        </p:nvSpPr>
        <p:spPr>
          <a:xfrm>
            <a:off x="4996000" y="5340000"/>
            <a:ext cx="2200000" cy="43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32" name="Arrow6"/>
          <p:cNvSpPr/>
          <p:nvPr/>
        </p:nvSpPr>
        <p:spPr>
          <a:xfrm>
            <a:off x="6016000" y="5780000"/>
            <a:ext cx="160000" cy="18000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3" name="Facturation"/>
          <p:cNvSpPr/>
          <p:nvPr/>
        </p:nvSpPr>
        <p:spPr>
          <a:xfrm>
            <a:off x="4996000" y="5960000"/>
            <a:ext cx="2200000" cy="43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</a:rPr>
              <a:t>Facturation</a:t>
            </a:r>
          </a:p>
        </p:txBody>
      </p:sp>
    </p:spTree>
    <p:extLst>
      <p:ext uri="{BB962C8B-B14F-4D97-AF65-F5344CB8AC3E}">
        <p14:creationId xmlns:p14="http://schemas.microsoft.com/office/powerpoint/2010/main" val="350458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3250000" y="1100000"/>
            <a:ext cx="4600000" cy="400000"/>
          </a:xfrm>
          <a:prstGeom prst="roundRect">
            <a:avLst>
              <a:gd name="adj" fmla="val 6000"/>
            </a:avLst>
          </a:prstGeom>
          <a:solidFill>
            <a:srgbClr val="6A2FD6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</a:rPr>
              <a:t>SUPPORT TECHNIQUE</a:t>
            </a:r>
          </a:p>
        </p:txBody>
      </p:sp>
      <p:sp>
        <p:nvSpPr>
          <p:cNvPr id="11" name="ArrL0"/>
          <p:cNvSpPr/>
          <p:nvPr/>
        </p:nvSpPr>
        <p:spPr>
          <a:xfrm>
            <a:off x="4020000" y="1500000"/>
            <a:ext cx="160000" cy="20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" name="ArrR0"/>
          <p:cNvSpPr/>
          <p:nvPr/>
        </p:nvSpPr>
        <p:spPr>
          <a:xfrm>
            <a:off x="6920000" y="1500000"/>
            <a:ext cx="160000" cy="20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Etude"/>
          <p:cNvSpPr/>
          <p:nvPr/>
        </p:nvSpPr>
        <p:spPr>
          <a:xfrm>
            <a:off x="3250000" y="1750000"/>
            <a:ext cx="1700000" cy="42000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300" b="1" dirty="0">
                <a:solidFill>
                  <a:srgbClr val="FFFFFF"/>
                </a:solidFill>
              </a:rPr>
              <a:t>Étude</a:t>
            </a:r>
          </a:p>
        </p:txBody>
      </p:sp>
      <p:sp>
        <p:nvSpPr>
          <p:cNvPr id="14" name="EtudeVisite"/>
          <p:cNvSpPr/>
          <p:nvPr/>
        </p:nvSpPr>
        <p:spPr>
          <a:xfrm>
            <a:off x="6150000" y="1750000"/>
            <a:ext cx="1700000" cy="42000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200" b="1" dirty="0">
                <a:solidFill>
                  <a:srgbClr val="FFFFFF"/>
                </a:solidFill>
              </a:rPr>
              <a:t>Étude + visite</a:t>
            </a:r>
          </a:p>
        </p:txBody>
      </p:sp>
      <p:sp>
        <p:nvSpPr>
          <p:cNvPr id="15" name="ArrL1"/>
          <p:cNvSpPr/>
          <p:nvPr/>
        </p:nvSpPr>
        <p:spPr>
          <a:xfrm>
            <a:off x="4020000" y="2170000"/>
            <a:ext cx="160000" cy="18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6" name="ArrR1"/>
          <p:cNvSpPr/>
          <p:nvPr/>
        </p:nvSpPr>
        <p:spPr>
          <a:xfrm>
            <a:off x="6920000" y="2170000"/>
            <a:ext cx="160000" cy="18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" name="Traitement"/>
          <p:cNvSpPr/>
          <p:nvPr/>
        </p:nvSpPr>
        <p:spPr>
          <a:xfrm>
            <a:off x="3250000" y="2350000"/>
            <a:ext cx="1700000" cy="420000"/>
          </a:xfrm>
          <a:prstGeom prst="roundRect">
            <a:avLst>
              <a:gd name="adj" fmla="val 8000"/>
            </a:avLst>
          </a:prstGeom>
          <a:solidFill>
            <a:srgbClr val="E4D9FA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50" b="1" dirty="0">
                <a:solidFill>
                  <a:srgbClr val="4A238F"/>
                </a:solidFill>
              </a:rPr>
              <a:t>Traitement</a:t>
            </a:r>
          </a:p>
        </p:txBody>
      </p:sp>
      <p:sp>
        <p:nvSpPr>
          <p:cNvPr id="18" name="Visite"/>
          <p:cNvSpPr/>
          <p:nvPr/>
        </p:nvSpPr>
        <p:spPr>
          <a:xfrm>
            <a:off x="6150000" y="2350000"/>
            <a:ext cx="1700000" cy="420000"/>
          </a:xfrm>
          <a:prstGeom prst="roundRect">
            <a:avLst>
              <a:gd name="adj" fmla="val 8000"/>
            </a:avLst>
          </a:prstGeom>
          <a:solidFill>
            <a:srgbClr val="E4D9FA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4A238F"/>
                </a:solidFill>
              </a:rPr>
              <a:t>Visite</a:t>
            </a:r>
          </a:p>
          <a:p>
            <a:pPr algn="ctr"/>
            <a:r>
              <a:rPr lang="fr-FR" sz="1000" b="1" dirty="0">
                <a:solidFill>
                  <a:srgbClr val="4A238F"/>
                </a:solidFill>
              </a:rPr>
              <a:t>(BE, travaux)</a:t>
            </a:r>
          </a:p>
        </p:txBody>
      </p:sp>
      <p:sp>
        <p:nvSpPr>
          <p:cNvPr id="19" name="ArrL2"/>
          <p:cNvSpPr/>
          <p:nvPr/>
        </p:nvSpPr>
        <p:spPr>
          <a:xfrm>
            <a:off x="4020000" y="2770000"/>
            <a:ext cx="160000" cy="18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" name="ArrR2"/>
          <p:cNvSpPr/>
          <p:nvPr/>
        </p:nvSpPr>
        <p:spPr>
          <a:xfrm>
            <a:off x="6920000" y="2770000"/>
            <a:ext cx="160000" cy="18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" name="OffreL"/>
          <p:cNvSpPr/>
          <p:nvPr/>
        </p:nvSpPr>
        <p:spPr>
          <a:xfrm>
            <a:off x="3250000" y="2950000"/>
            <a:ext cx="1700000" cy="480000"/>
          </a:xfrm>
          <a:prstGeom prst="roundRect">
            <a:avLst>
              <a:gd name="adj" fmla="val 8000"/>
            </a:avLst>
          </a:prstGeom>
          <a:solidFill>
            <a:srgbClr val="E4D9FA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4A238F"/>
                </a:solidFill>
              </a:rPr>
              <a:t>Offre technique</a:t>
            </a:r>
          </a:p>
        </p:txBody>
      </p:sp>
      <p:sp>
        <p:nvSpPr>
          <p:cNvPr id="22" name="OffreR"/>
          <p:cNvSpPr/>
          <p:nvPr/>
        </p:nvSpPr>
        <p:spPr>
          <a:xfrm>
            <a:off x="5850000" y="2950000"/>
            <a:ext cx="2300000" cy="480000"/>
          </a:xfrm>
          <a:prstGeom prst="roundRect">
            <a:avLst>
              <a:gd name="adj" fmla="val 8000"/>
            </a:avLst>
          </a:prstGeom>
          <a:solidFill>
            <a:srgbClr val="E4D9FA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4A238F"/>
                </a:solidFill>
              </a:rPr>
              <a:t>Offre technique (liste matériel, plan)</a:t>
            </a:r>
          </a:p>
          <a:p>
            <a:pPr algn="ctr"/>
            <a:r>
              <a:rPr lang="fr-FR" sz="900" b="1" dirty="0">
                <a:solidFill>
                  <a:srgbClr val="4A238F"/>
                </a:solidFill>
              </a:rPr>
              <a:t>Montant prestation (Resp. travaux)</a:t>
            </a:r>
          </a:p>
        </p:txBody>
      </p:sp>
      <p:sp>
        <p:nvSpPr>
          <p:cNvPr id="23" name="ArrL3"/>
          <p:cNvSpPr/>
          <p:nvPr/>
        </p:nvSpPr>
        <p:spPr>
          <a:xfrm>
            <a:off x="4020000" y="3430000"/>
            <a:ext cx="160000" cy="18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4" name="ArrR3"/>
          <p:cNvSpPr/>
          <p:nvPr/>
        </p:nvSpPr>
        <p:spPr>
          <a:xfrm>
            <a:off x="6920000" y="3430000"/>
            <a:ext cx="160000" cy="18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5" name="CommL"/>
          <p:cNvSpPr/>
          <p:nvPr/>
        </p:nvSpPr>
        <p:spPr>
          <a:xfrm>
            <a:off x="3250000" y="3610000"/>
            <a:ext cx="1700000" cy="48000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Commercial</a:t>
            </a:r>
          </a:p>
        </p:txBody>
      </p:sp>
      <p:sp>
        <p:nvSpPr>
          <p:cNvPr id="26" name="CommR"/>
          <p:cNvSpPr/>
          <p:nvPr/>
        </p:nvSpPr>
        <p:spPr>
          <a:xfrm>
            <a:off x="6150000" y="3610000"/>
            <a:ext cx="1700000" cy="48000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100" b="1" dirty="0">
                <a:solidFill>
                  <a:srgbClr val="FFFFFF"/>
                </a:solidFill>
              </a:rPr>
              <a:t>Commercial</a:t>
            </a:r>
          </a:p>
        </p:txBody>
      </p:sp>
      <p:sp>
        <p:nvSpPr>
          <p:cNvPr id="27" name="ArrL4"/>
          <p:cNvSpPr/>
          <p:nvPr/>
        </p:nvSpPr>
        <p:spPr>
          <a:xfrm>
            <a:off x="4020000" y="4090000"/>
            <a:ext cx="160000" cy="18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8" name="ArrR4"/>
          <p:cNvSpPr/>
          <p:nvPr/>
        </p:nvSpPr>
        <p:spPr>
          <a:xfrm>
            <a:off x="6920000" y="4090000"/>
            <a:ext cx="160000" cy="180000"/>
          </a:xfrm>
          <a:prstGeom prst="downArrow">
            <a:avLst/>
          </a:prstGeom>
          <a:solidFill>
            <a:srgbClr val="7C4DE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" name="ClientL"/>
          <p:cNvSpPr/>
          <p:nvPr/>
        </p:nvSpPr>
        <p:spPr>
          <a:xfrm>
            <a:off x="3250000" y="4270000"/>
            <a:ext cx="1700000" cy="42000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200" b="1" dirty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30" name="ClientR"/>
          <p:cNvSpPr/>
          <p:nvPr/>
        </p:nvSpPr>
        <p:spPr>
          <a:xfrm>
            <a:off x="6150000" y="4270000"/>
            <a:ext cx="1700000" cy="420000"/>
          </a:xfrm>
          <a:prstGeom prst="roundRect">
            <a:avLst>
              <a:gd name="adj" fmla="val 8000"/>
            </a:avLst>
          </a:prstGeom>
          <a:solidFill>
            <a:srgbClr val="7C4DE8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fr-FR" sz="1200" b="1" dirty="0">
                <a:solidFill>
                  <a:srgbClr val="FFFFFF"/>
                </a:solidFill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338198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10"/>
          <p:cNvSpPr/>
          <p:nvPr/>
        </p:nvSpPr>
        <p:spPr>
          <a:xfrm>
            <a:off x="3450000" y="130000"/>
            <a:ext cx="4500000" cy="330000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1200" b="1" dirty="0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11" name="b11"/>
          <p:cNvSpPr/>
          <p:nvPr/>
        </p:nvSpPr>
        <p:spPr>
          <a:xfrm>
            <a:off x="3300000" y="640000"/>
            <a:ext cx="2100000" cy="470000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950" b="1" dirty="0">
                <a:solidFill>
                  <a:srgbClr val="FFFFFF"/>
                </a:solidFill>
              </a:rPr>
              <a:t>Petit travaux</a:t>
            </a:r>
          </a:p>
          <a:p>
            <a:pPr algn="ctr"/>
            <a:r>
              <a:rPr lang="fr-FR" sz="950" b="1" dirty="0">
                <a:solidFill>
                  <a:srgbClr val="FFFFFF"/>
                </a:solidFill>
              </a:rPr>
              <a:t>(Spider)</a:t>
            </a:r>
          </a:p>
        </p:txBody>
      </p:sp>
      <p:sp>
        <p:nvSpPr>
          <p:cNvPr id="12" name="b12"/>
          <p:cNvSpPr/>
          <p:nvPr/>
        </p:nvSpPr>
        <p:spPr>
          <a:xfrm>
            <a:off x="6000000" y="640000"/>
            <a:ext cx="2100000" cy="470000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950" b="1" dirty="0">
                <a:solidFill>
                  <a:srgbClr val="FFFFFF"/>
                </a:solidFill>
              </a:rPr>
              <a:t>Gros travaux</a:t>
            </a:r>
          </a:p>
          <a:p>
            <a:pPr algn="ctr"/>
            <a:r>
              <a:rPr lang="fr-FR" sz="950" b="1" dirty="0">
                <a:solidFill>
                  <a:srgbClr val="FFFFFF"/>
                </a:solidFill>
              </a:rPr>
              <a:t>(Prestataire)</a:t>
            </a:r>
          </a:p>
        </p:txBody>
      </p:sp>
      <p:sp>
        <p:nvSpPr>
          <p:cNvPr id="13" name="b13"/>
          <p:cNvSpPr/>
          <p:nvPr/>
        </p:nvSpPr>
        <p:spPr>
          <a:xfrm>
            <a:off x="3300000" y="1250000"/>
            <a:ext cx="2100000" cy="52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750" b="1" dirty="0">
                <a:solidFill>
                  <a:srgbClr val="12692A"/>
                </a:solidFill>
              </a:rPr>
              <a:t>Offre technique (BL)</a:t>
            </a:r>
          </a:p>
          <a:p>
            <a:pPr algn="ctr"/>
            <a:r>
              <a:rPr lang="fr-FR" sz="750" b="1" dirty="0">
                <a:solidFill>
                  <a:srgbClr val="12692A"/>
                </a:solidFill>
              </a:rPr>
              <a:t>Montant prestation (Resp. travaux)</a:t>
            </a:r>
          </a:p>
        </p:txBody>
      </p:sp>
      <p:sp>
        <p:nvSpPr>
          <p:cNvPr id="14" name="b14"/>
          <p:cNvSpPr/>
          <p:nvPr/>
        </p:nvSpPr>
        <p:spPr>
          <a:xfrm>
            <a:off x="6000000" y="1250000"/>
            <a:ext cx="2100000" cy="52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750" b="1" dirty="0">
                <a:solidFill>
                  <a:srgbClr val="12692A"/>
                </a:solidFill>
              </a:rPr>
              <a:t>Offre technique (BL)</a:t>
            </a:r>
          </a:p>
          <a:p>
            <a:pPr algn="ctr"/>
            <a:r>
              <a:rPr lang="fr-FR" sz="750" b="1" dirty="0">
                <a:solidFill>
                  <a:srgbClr val="12692A"/>
                </a:solidFill>
              </a:rPr>
              <a:t>Montant prestation (Prestataire)</a:t>
            </a:r>
          </a:p>
        </p:txBody>
      </p:sp>
      <p:sp>
        <p:nvSpPr>
          <p:cNvPr id="15" name="b15"/>
          <p:cNvSpPr/>
          <p:nvPr/>
        </p:nvSpPr>
        <p:spPr>
          <a:xfrm>
            <a:off x="4650000" y="1890000"/>
            <a:ext cx="2100000" cy="330000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FFFFFF"/>
                </a:solidFill>
              </a:rPr>
              <a:t>Commercial</a:t>
            </a:r>
          </a:p>
        </p:txBody>
      </p:sp>
      <p:sp>
        <p:nvSpPr>
          <p:cNvPr id="16" name="b16"/>
          <p:cNvSpPr/>
          <p:nvPr/>
        </p:nvSpPr>
        <p:spPr>
          <a:xfrm>
            <a:off x="4650000" y="2330000"/>
            <a:ext cx="2100000" cy="32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Client</a:t>
            </a:r>
          </a:p>
        </p:txBody>
      </p:sp>
      <p:sp>
        <p:nvSpPr>
          <p:cNvPr id="17" name="b17"/>
          <p:cNvSpPr/>
          <p:nvPr/>
        </p:nvSpPr>
        <p:spPr>
          <a:xfrm>
            <a:off x="650000" y="2770000"/>
            <a:ext cx="2100000" cy="340000"/>
          </a:xfrm>
          <a:prstGeom prst="roundRect">
            <a:avLst>
              <a:gd name="adj" fmla="val 6000"/>
            </a:avLst>
          </a:prstGeom>
          <a:solidFill>
            <a:srgbClr val="E30E2E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1050" b="1" dirty="0">
                <a:solidFill>
                  <a:srgbClr val="FFFFFF"/>
                </a:solidFill>
              </a:rPr>
              <a:t>NON VALIDE</a:t>
            </a:r>
          </a:p>
        </p:txBody>
      </p:sp>
      <p:sp>
        <p:nvSpPr>
          <p:cNvPr id="18" name="b18"/>
          <p:cNvSpPr/>
          <p:nvPr/>
        </p:nvSpPr>
        <p:spPr>
          <a:xfrm>
            <a:off x="5300000" y="2770000"/>
            <a:ext cx="2100000" cy="340000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1050" b="1" dirty="0">
                <a:solidFill>
                  <a:srgbClr val="FFFFFF"/>
                </a:solidFill>
              </a:rPr>
              <a:t>VALIDE</a:t>
            </a:r>
          </a:p>
        </p:txBody>
      </p:sp>
      <p:sp>
        <p:nvSpPr>
          <p:cNvPr id="19" name="b19"/>
          <p:cNvSpPr/>
          <p:nvPr/>
        </p:nvSpPr>
        <p:spPr>
          <a:xfrm>
            <a:off x="700000" y="326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Étude cause</a:t>
            </a:r>
          </a:p>
        </p:txBody>
      </p:sp>
      <p:sp>
        <p:nvSpPr>
          <p:cNvPr id="20" name="b20"/>
          <p:cNvSpPr/>
          <p:nvPr/>
        </p:nvSpPr>
        <p:spPr>
          <a:xfrm>
            <a:off x="700000" y="372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Rattrapage</a:t>
            </a:r>
          </a:p>
        </p:txBody>
      </p:sp>
      <p:sp>
        <p:nvSpPr>
          <p:cNvPr id="21" name="b21"/>
          <p:cNvSpPr/>
          <p:nvPr/>
        </p:nvSpPr>
        <p:spPr>
          <a:xfrm>
            <a:off x="3500000" y="3260000"/>
            <a:ext cx="17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Spider</a:t>
            </a:r>
          </a:p>
          <a:p>
            <a:pPr algn="ctr"/>
            <a:r>
              <a:rPr lang="fr-FR" sz="850" b="1" dirty="0">
                <a:solidFill>
                  <a:srgbClr val="12692A"/>
                </a:solidFill>
              </a:rPr>
              <a:t>(Petit travaux)</a:t>
            </a:r>
          </a:p>
        </p:txBody>
      </p:sp>
      <p:sp>
        <p:nvSpPr>
          <p:cNvPr id="22" name="b22"/>
          <p:cNvSpPr/>
          <p:nvPr/>
        </p:nvSpPr>
        <p:spPr>
          <a:xfrm>
            <a:off x="7525000" y="3260000"/>
            <a:ext cx="17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Prestataire</a:t>
            </a:r>
          </a:p>
          <a:p>
            <a:pPr algn="ctr"/>
            <a:r>
              <a:rPr lang="fr-FR" sz="850" b="1" dirty="0">
                <a:solidFill>
                  <a:srgbClr val="12692A"/>
                </a:solidFill>
              </a:rPr>
              <a:t>(gros travaux)</a:t>
            </a:r>
          </a:p>
        </p:txBody>
      </p:sp>
      <p:sp>
        <p:nvSpPr>
          <p:cNvPr id="23" name="b23"/>
          <p:cNvSpPr/>
          <p:nvPr/>
        </p:nvSpPr>
        <p:spPr>
          <a:xfrm>
            <a:off x="3300000" y="3720000"/>
            <a:ext cx="21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00" b="1" dirty="0">
                <a:solidFill>
                  <a:srgbClr val="12692A"/>
                </a:solidFill>
              </a:rPr>
              <a:t>Rassemblement matériel</a:t>
            </a:r>
          </a:p>
        </p:txBody>
      </p:sp>
      <p:sp>
        <p:nvSpPr>
          <p:cNvPr id="24" name="b24"/>
          <p:cNvSpPr/>
          <p:nvPr/>
        </p:nvSpPr>
        <p:spPr>
          <a:xfrm>
            <a:off x="3350000" y="415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Planning</a:t>
            </a:r>
          </a:p>
        </p:txBody>
      </p:sp>
      <p:sp>
        <p:nvSpPr>
          <p:cNvPr id="25" name="b25"/>
          <p:cNvSpPr/>
          <p:nvPr/>
        </p:nvSpPr>
        <p:spPr>
          <a:xfrm>
            <a:off x="3350000" y="458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950" b="1" dirty="0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26" name="b26"/>
          <p:cNvSpPr/>
          <p:nvPr/>
        </p:nvSpPr>
        <p:spPr>
          <a:xfrm>
            <a:off x="3350000" y="501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Réception</a:t>
            </a:r>
          </a:p>
        </p:txBody>
      </p:sp>
      <p:sp>
        <p:nvSpPr>
          <p:cNvPr id="27" name="b27"/>
          <p:cNvSpPr/>
          <p:nvPr/>
        </p:nvSpPr>
        <p:spPr>
          <a:xfrm>
            <a:off x="3350000" y="544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Facturation</a:t>
            </a:r>
          </a:p>
        </p:txBody>
      </p:sp>
      <p:sp>
        <p:nvSpPr>
          <p:cNvPr id="28" name="b28"/>
          <p:cNvSpPr/>
          <p:nvPr/>
        </p:nvSpPr>
        <p:spPr>
          <a:xfrm>
            <a:off x="6000000" y="3720000"/>
            <a:ext cx="21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Matériel compris</a:t>
            </a:r>
          </a:p>
        </p:txBody>
      </p:sp>
      <p:sp>
        <p:nvSpPr>
          <p:cNvPr id="29" name="b29"/>
          <p:cNvSpPr/>
          <p:nvPr/>
        </p:nvSpPr>
        <p:spPr>
          <a:xfrm>
            <a:off x="8650000" y="3720000"/>
            <a:ext cx="21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Matériel combiné</a:t>
            </a:r>
          </a:p>
        </p:txBody>
      </p:sp>
      <p:sp>
        <p:nvSpPr>
          <p:cNvPr id="30" name="b30"/>
          <p:cNvSpPr/>
          <p:nvPr/>
        </p:nvSpPr>
        <p:spPr>
          <a:xfrm>
            <a:off x="6050000" y="415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Planning</a:t>
            </a:r>
          </a:p>
        </p:txBody>
      </p:sp>
      <p:sp>
        <p:nvSpPr>
          <p:cNvPr id="31" name="b31"/>
          <p:cNvSpPr/>
          <p:nvPr/>
        </p:nvSpPr>
        <p:spPr>
          <a:xfrm>
            <a:off x="5950000" y="4580000"/>
            <a:ext cx="2200000" cy="46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750" b="1" dirty="0">
                <a:solidFill>
                  <a:srgbClr val="12692A"/>
                </a:solidFill>
              </a:rPr>
              <a:t>Briefing chantier</a:t>
            </a:r>
          </a:p>
          <a:p>
            <a:pPr algn="ctr"/>
            <a:r>
              <a:rPr lang="fr-FR" sz="750" b="1" dirty="0">
                <a:solidFill>
                  <a:srgbClr val="12692A"/>
                </a:solidFill>
              </a:rPr>
              <a:t>(Resp. travaux, client)</a:t>
            </a:r>
          </a:p>
        </p:txBody>
      </p:sp>
      <p:sp>
        <p:nvSpPr>
          <p:cNvPr id="32" name="b32"/>
          <p:cNvSpPr/>
          <p:nvPr/>
        </p:nvSpPr>
        <p:spPr>
          <a:xfrm>
            <a:off x="6050000" y="508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950" b="1" dirty="0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33" name="b33"/>
          <p:cNvSpPr/>
          <p:nvPr/>
        </p:nvSpPr>
        <p:spPr>
          <a:xfrm>
            <a:off x="6050000" y="551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Réception</a:t>
            </a:r>
          </a:p>
        </p:txBody>
      </p:sp>
      <p:sp>
        <p:nvSpPr>
          <p:cNvPr id="34" name="b34"/>
          <p:cNvSpPr/>
          <p:nvPr/>
        </p:nvSpPr>
        <p:spPr>
          <a:xfrm>
            <a:off x="6050000" y="594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Facturation</a:t>
            </a:r>
          </a:p>
        </p:txBody>
      </p:sp>
      <p:sp>
        <p:nvSpPr>
          <p:cNvPr id="35" name="b35"/>
          <p:cNvSpPr/>
          <p:nvPr/>
        </p:nvSpPr>
        <p:spPr>
          <a:xfrm>
            <a:off x="8650000" y="4150000"/>
            <a:ext cx="21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00" b="1" dirty="0">
                <a:solidFill>
                  <a:srgbClr val="12692A"/>
                </a:solidFill>
              </a:rPr>
              <a:t>Rassemblement matériel</a:t>
            </a:r>
          </a:p>
        </p:txBody>
      </p:sp>
      <p:sp>
        <p:nvSpPr>
          <p:cNvPr id="36" name="b36"/>
          <p:cNvSpPr/>
          <p:nvPr/>
        </p:nvSpPr>
        <p:spPr>
          <a:xfrm>
            <a:off x="8700000" y="458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Planning</a:t>
            </a:r>
          </a:p>
        </p:txBody>
      </p:sp>
      <p:sp>
        <p:nvSpPr>
          <p:cNvPr id="37" name="b37"/>
          <p:cNvSpPr/>
          <p:nvPr/>
        </p:nvSpPr>
        <p:spPr>
          <a:xfrm>
            <a:off x="8600000" y="5010000"/>
            <a:ext cx="2200000" cy="44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750" b="1" dirty="0">
                <a:solidFill>
                  <a:srgbClr val="12692A"/>
                </a:solidFill>
              </a:rPr>
              <a:t>Briefing chantier</a:t>
            </a:r>
          </a:p>
          <a:p>
            <a:pPr algn="ctr"/>
            <a:r>
              <a:rPr lang="fr-FR" sz="750" b="1" dirty="0">
                <a:solidFill>
                  <a:srgbClr val="12692A"/>
                </a:solidFill>
              </a:rPr>
              <a:t>(Resp. travaux, prestataire)</a:t>
            </a:r>
          </a:p>
        </p:txBody>
      </p:sp>
      <p:sp>
        <p:nvSpPr>
          <p:cNvPr id="38" name="b38"/>
          <p:cNvSpPr/>
          <p:nvPr/>
        </p:nvSpPr>
        <p:spPr>
          <a:xfrm>
            <a:off x="8700000" y="551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1FA83C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950" b="1" dirty="0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39" name="b39"/>
          <p:cNvSpPr/>
          <p:nvPr/>
        </p:nvSpPr>
        <p:spPr>
          <a:xfrm>
            <a:off x="8700000" y="5940000"/>
            <a:ext cx="2000000" cy="33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Réception</a:t>
            </a:r>
          </a:p>
        </p:txBody>
      </p:sp>
      <p:sp>
        <p:nvSpPr>
          <p:cNvPr id="40" name="b40"/>
          <p:cNvSpPr/>
          <p:nvPr/>
        </p:nvSpPr>
        <p:spPr>
          <a:xfrm>
            <a:off x="8700000" y="6370000"/>
            <a:ext cx="2000000" cy="310000"/>
          </a:xfrm>
          <a:prstGeom prst="roundRect">
            <a:avLst>
              <a:gd name="adj" fmla="val 6000"/>
            </a:avLst>
          </a:prstGeom>
          <a:solidFill>
            <a:srgbClr val="D9F5E1"/>
          </a:solidFill>
          <a:ln>
            <a:noFill/>
          </a:ln>
        </p:spPr>
        <p:txBody>
          <a:bodyPr lIns="36000" tIns="18000" rIns="36000" bIns="18000" rtlCol="0" anchor="ctr">
            <a:normAutofit/>
          </a:bodyPr>
          <a:lstStyle/>
          <a:p>
            <a:pPr algn="ctr"/>
            <a:r>
              <a:rPr lang="fr-FR" sz="850" b="1" dirty="0">
                <a:solidFill>
                  <a:srgbClr val="12692A"/>
                </a:solidFill>
              </a:rPr>
              <a:t>Facturation</a:t>
            </a:r>
          </a:p>
        </p:txBody>
      </p:sp>
      <p:sp>
        <p:nvSpPr>
          <p:cNvPr id="41" name="c41"/>
          <p:cNvSpPr/>
          <p:nvPr/>
        </p:nvSpPr>
        <p:spPr>
          <a:xfrm>
            <a:off x="5687500" y="46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2" name="c42"/>
          <p:cNvSpPr/>
          <p:nvPr/>
        </p:nvSpPr>
        <p:spPr>
          <a:xfrm>
            <a:off x="4350000" y="560000"/>
            <a:ext cx="2700000" cy="25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3" name="c43"/>
          <p:cNvSpPr/>
          <p:nvPr/>
        </p:nvSpPr>
        <p:spPr>
          <a:xfrm>
            <a:off x="4337500" y="560000"/>
            <a:ext cx="25000" cy="8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4" name="c44"/>
          <p:cNvSpPr/>
          <p:nvPr/>
        </p:nvSpPr>
        <p:spPr>
          <a:xfrm>
            <a:off x="7037500" y="560000"/>
            <a:ext cx="25000" cy="8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5" name="c45"/>
          <p:cNvSpPr/>
          <p:nvPr/>
        </p:nvSpPr>
        <p:spPr>
          <a:xfrm>
            <a:off x="4337500" y="1110000"/>
            <a:ext cx="25000" cy="14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6" name="c46"/>
          <p:cNvSpPr/>
          <p:nvPr/>
        </p:nvSpPr>
        <p:spPr>
          <a:xfrm>
            <a:off x="7037500" y="1110000"/>
            <a:ext cx="25000" cy="14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7" name="c47"/>
          <p:cNvSpPr/>
          <p:nvPr/>
        </p:nvSpPr>
        <p:spPr>
          <a:xfrm>
            <a:off x="4337500" y="1770000"/>
            <a:ext cx="25000" cy="7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8" name="c48"/>
          <p:cNvSpPr/>
          <p:nvPr/>
        </p:nvSpPr>
        <p:spPr>
          <a:xfrm>
            <a:off x="7037500" y="1770000"/>
            <a:ext cx="25000" cy="7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9" name="c49"/>
          <p:cNvSpPr/>
          <p:nvPr/>
        </p:nvSpPr>
        <p:spPr>
          <a:xfrm>
            <a:off x="4350000" y="1840000"/>
            <a:ext cx="2700000" cy="25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0" name="c50"/>
          <p:cNvSpPr/>
          <p:nvPr/>
        </p:nvSpPr>
        <p:spPr>
          <a:xfrm>
            <a:off x="5687500" y="1840000"/>
            <a:ext cx="25000" cy="5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1" name="c51"/>
          <p:cNvSpPr/>
          <p:nvPr/>
        </p:nvSpPr>
        <p:spPr>
          <a:xfrm>
            <a:off x="5687500" y="2220000"/>
            <a:ext cx="25000" cy="11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2" name="c52"/>
          <p:cNvSpPr/>
          <p:nvPr/>
        </p:nvSpPr>
        <p:spPr>
          <a:xfrm>
            <a:off x="5687500" y="2650000"/>
            <a:ext cx="25000" cy="6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3" name="c53"/>
          <p:cNvSpPr/>
          <p:nvPr/>
        </p:nvSpPr>
        <p:spPr>
          <a:xfrm>
            <a:off x="1700000" y="2710000"/>
            <a:ext cx="4650000" cy="25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4" name="c54"/>
          <p:cNvSpPr/>
          <p:nvPr/>
        </p:nvSpPr>
        <p:spPr>
          <a:xfrm>
            <a:off x="1687500" y="2710000"/>
            <a:ext cx="25000" cy="6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5" name="c55"/>
          <p:cNvSpPr/>
          <p:nvPr/>
        </p:nvSpPr>
        <p:spPr>
          <a:xfrm>
            <a:off x="6337500" y="2710000"/>
            <a:ext cx="25000" cy="6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6" name="c56"/>
          <p:cNvSpPr/>
          <p:nvPr/>
        </p:nvSpPr>
        <p:spPr>
          <a:xfrm>
            <a:off x="1687500" y="3110000"/>
            <a:ext cx="25000" cy="15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7" name="c57"/>
          <p:cNvSpPr/>
          <p:nvPr/>
        </p:nvSpPr>
        <p:spPr>
          <a:xfrm>
            <a:off x="1687500" y="3590000"/>
            <a:ext cx="25000" cy="13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8" name="c58"/>
          <p:cNvSpPr/>
          <p:nvPr/>
        </p:nvSpPr>
        <p:spPr>
          <a:xfrm>
            <a:off x="6337500" y="3110000"/>
            <a:ext cx="25000" cy="6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9" name="c59"/>
          <p:cNvSpPr/>
          <p:nvPr/>
        </p:nvSpPr>
        <p:spPr>
          <a:xfrm>
            <a:off x="4350000" y="3170000"/>
            <a:ext cx="4025000" cy="25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0" name="c60"/>
          <p:cNvSpPr/>
          <p:nvPr/>
        </p:nvSpPr>
        <p:spPr>
          <a:xfrm>
            <a:off x="4337500" y="3170000"/>
            <a:ext cx="25000" cy="9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1" name="c61"/>
          <p:cNvSpPr/>
          <p:nvPr/>
        </p:nvSpPr>
        <p:spPr>
          <a:xfrm>
            <a:off x="8362500" y="3170000"/>
            <a:ext cx="25000" cy="9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2" name="c62"/>
          <p:cNvSpPr/>
          <p:nvPr/>
        </p:nvSpPr>
        <p:spPr>
          <a:xfrm>
            <a:off x="4337500" y="3590000"/>
            <a:ext cx="25000" cy="13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3" name="c63"/>
          <p:cNvSpPr/>
          <p:nvPr/>
        </p:nvSpPr>
        <p:spPr>
          <a:xfrm>
            <a:off x="4337500" y="405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4" name="c64"/>
          <p:cNvSpPr/>
          <p:nvPr/>
        </p:nvSpPr>
        <p:spPr>
          <a:xfrm>
            <a:off x="4337500" y="448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5" name="c65"/>
          <p:cNvSpPr/>
          <p:nvPr/>
        </p:nvSpPr>
        <p:spPr>
          <a:xfrm>
            <a:off x="4337500" y="491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6" name="c66"/>
          <p:cNvSpPr/>
          <p:nvPr/>
        </p:nvSpPr>
        <p:spPr>
          <a:xfrm>
            <a:off x="4337500" y="534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7" name="c67"/>
          <p:cNvSpPr/>
          <p:nvPr/>
        </p:nvSpPr>
        <p:spPr>
          <a:xfrm>
            <a:off x="8362500" y="3590000"/>
            <a:ext cx="25000" cy="7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8" name="c68"/>
          <p:cNvSpPr/>
          <p:nvPr/>
        </p:nvSpPr>
        <p:spPr>
          <a:xfrm>
            <a:off x="7050000" y="3660000"/>
            <a:ext cx="2650000" cy="25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9" name="c69"/>
          <p:cNvSpPr/>
          <p:nvPr/>
        </p:nvSpPr>
        <p:spPr>
          <a:xfrm>
            <a:off x="7037500" y="3660000"/>
            <a:ext cx="25000" cy="6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0" name="c70"/>
          <p:cNvSpPr/>
          <p:nvPr/>
        </p:nvSpPr>
        <p:spPr>
          <a:xfrm>
            <a:off x="9687500" y="3660000"/>
            <a:ext cx="25000" cy="6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1" name="c71"/>
          <p:cNvSpPr/>
          <p:nvPr/>
        </p:nvSpPr>
        <p:spPr>
          <a:xfrm>
            <a:off x="7037500" y="405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2" name="c72"/>
          <p:cNvSpPr/>
          <p:nvPr/>
        </p:nvSpPr>
        <p:spPr>
          <a:xfrm>
            <a:off x="7037500" y="448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3" name="c73"/>
          <p:cNvSpPr/>
          <p:nvPr/>
        </p:nvSpPr>
        <p:spPr>
          <a:xfrm>
            <a:off x="7037500" y="5040000"/>
            <a:ext cx="25000" cy="4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4" name="c74"/>
          <p:cNvSpPr/>
          <p:nvPr/>
        </p:nvSpPr>
        <p:spPr>
          <a:xfrm>
            <a:off x="7037500" y="541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5" name="c75"/>
          <p:cNvSpPr/>
          <p:nvPr/>
        </p:nvSpPr>
        <p:spPr>
          <a:xfrm>
            <a:off x="7037500" y="584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6" name="c76"/>
          <p:cNvSpPr/>
          <p:nvPr/>
        </p:nvSpPr>
        <p:spPr>
          <a:xfrm>
            <a:off x="9687500" y="405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7" name="c77"/>
          <p:cNvSpPr/>
          <p:nvPr/>
        </p:nvSpPr>
        <p:spPr>
          <a:xfrm>
            <a:off x="9687500" y="448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8" name="c78"/>
          <p:cNvSpPr/>
          <p:nvPr/>
        </p:nvSpPr>
        <p:spPr>
          <a:xfrm>
            <a:off x="9687500" y="491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9" name="c79"/>
          <p:cNvSpPr/>
          <p:nvPr/>
        </p:nvSpPr>
        <p:spPr>
          <a:xfrm>
            <a:off x="9687500" y="5450000"/>
            <a:ext cx="25000" cy="6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0" name="c80"/>
          <p:cNvSpPr/>
          <p:nvPr/>
        </p:nvSpPr>
        <p:spPr>
          <a:xfrm>
            <a:off x="9687500" y="584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1" name="c81"/>
          <p:cNvSpPr/>
          <p:nvPr/>
        </p:nvSpPr>
        <p:spPr>
          <a:xfrm>
            <a:off x="9687500" y="6270000"/>
            <a:ext cx="25000" cy="100000"/>
          </a:xfrm>
          <a:prstGeom prst="rect">
            <a:avLst/>
          </a:prstGeom>
          <a:solidFill>
            <a:srgbClr val="3C8B6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CC46444-AC47-4284-9107-E1128285E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852224"/>
              </p:ext>
            </p:extLst>
          </p:nvPr>
        </p:nvGraphicFramePr>
        <p:xfrm>
          <a:off x="434682" y="862863"/>
          <a:ext cx="4832262" cy="5729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131">
                  <a:extLst>
                    <a:ext uri="{9D8B030D-6E8A-4147-A177-3AD203B41FA5}">
                      <a16:colId xmlns:a16="http://schemas.microsoft.com/office/drawing/2014/main" val="836111069"/>
                    </a:ext>
                  </a:extLst>
                </a:gridCol>
                <a:gridCol w="2416131">
                  <a:extLst>
                    <a:ext uri="{9D8B030D-6E8A-4147-A177-3AD203B41FA5}">
                      <a16:colId xmlns:a16="http://schemas.microsoft.com/office/drawing/2014/main" val="818949657"/>
                    </a:ext>
                  </a:extLst>
                </a:gridCol>
              </a:tblGrid>
              <a:tr h="2816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G" sz="1200" b="1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Intitulé</a:t>
                      </a: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G" sz="12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Élément à compléter</a:t>
                      </a:r>
                      <a:endParaRPr lang="fr-MG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0563477"/>
                  </a:ext>
                </a:extLst>
              </a:tr>
              <a:tr h="426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200" b="1" u="sng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Commercial Front</a:t>
                      </a:r>
                      <a:endParaRPr lang="fr-MG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100" dirty="0">
                          <a:effectLst/>
                        </a:rPr>
                        <a:t>Nom du commercial en charge du dossier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118051"/>
                  </a:ext>
                </a:extLst>
              </a:tr>
              <a:tr h="5946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1" u="sng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G" sz="1200" b="1" u="sng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Date et heure de la visite</a:t>
                      </a: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  <a:p>
                      <a:pPr>
                        <a:buNone/>
                      </a:pP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100" dirty="0">
                          <a:effectLst/>
                        </a:rPr>
                        <a:t>À planifier en fonction de la disponibilité du client et de l’équipe technique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352252"/>
                  </a:ext>
                </a:extLst>
              </a:tr>
              <a:tr h="5584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200" dirty="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G" sz="1200" b="1" u="sng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Moyen de transport</a:t>
                      </a: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  <a:p>
                      <a:pPr>
                        <a:buNone/>
                      </a:pP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100" dirty="0">
                          <a:effectLst/>
                        </a:rPr>
                        <a:t>À </a:t>
                      </a:r>
                      <a:r>
                        <a:rPr lang="fr-FR" sz="1100" dirty="0">
                          <a:effectLst/>
                        </a:rPr>
                        <a:t>organiser </a:t>
                      </a:r>
                      <a:r>
                        <a:rPr lang="fr-MG" sz="1100" dirty="0">
                          <a:effectLst/>
                        </a:rPr>
                        <a:t>avec Mme </a:t>
                      </a:r>
                      <a:r>
                        <a:rPr lang="fr-MG" sz="1100" dirty="0" err="1">
                          <a:effectLst/>
                        </a:rPr>
                        <a:t>Hosana</a:t>
                      </a:r>
                      <a:r>
                        <a:rPr lang="fr-MG" sz="1100" dirty="0">
                          <a:effectLst/>
                        </a:rPr>
                        <a:t> pour les visites</a:t>
                      </a:r>
                      <a:r>
                        <a:rPr lang="fr-FR" sz="1100" dirty="0">
                          <a:effectLst/>
                        </a:rPr>
                        <a:t> </a:t>
                      </a:r>
                      <a:r>
                        <a:rPr lang="fr-FR" sz="1100" b="1" dirty="0">
                          <a:solidFill>
                            <a:srgbClr val="FF0000"/>
                          </a:solidFill>
                          <a:effectLst/>
                        </a:rPr>
                        <a:t>–</a:t>
                      </a:r>
                      <a:r>
                        <a:rPr lang="fr-FR" sz="110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fr-FR" sz="1100" b="1" dirty="0">
                          <a:solidFill>
                            <a:srgbClr val="FF0000"/>
                          </a:solidFill>
                          <a:effectLst/>
                        </a:rPr>
                        <a:t>Front Office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248453"/>
                  </a:ext>
                </a:extLst>
              </a:tr>
              <a:tr h="558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1" u="sng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G" sz="1200" b="1" u="sng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Intitulé client</a:t>
                      </a: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  <a:p>
                      <a:pPr>
                        <a:buNone/>
                      </a:pP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100" dirty="0">
                          <a:effectLst/>
                        </a:rPr>
                        <a:t>Raison sociale ou nom du client concerné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430171"/>
                  </a:ext>
                </a:extLst>
              </a:tr>
              <a:tr h="7413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1" u="sng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G" sz="1200" b="1" u="sng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Interlocuteur / Décideur technique</a:t>
                      </a: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  <a:p>
                      <a:pPr>
                        <a:buNone/>
                      </a:pP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100" dirty="0">
                          <a:effectLst/>
                        </a:rPr>
                        <a:t>Nom, fonction et coordonnées de la personne à contacter sur 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277332"/>
                  </a:ext>
                </a:extLst>
              </a:tr>
              <a:tr h="7623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1" u="sng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G" sz="1200" b="1" u="sng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Objet</a:t>
                      </a: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  <a:p>
                      <a:pPr>
                        <a:buNone/>
                      </a:pP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100" dirty="0">
                          <a:effectLst/>
                        </a:rPr>
                        <a:t>Visite technique, dépannage, maintenance</a:t>
                      </a:r>
                      <a:r>
                        <a:rPr lang="fr-FR" sz="1100" dirty="0">
                          <a:effectLst/>
                        </a:rPr>
                        <a:t>, vérification</a:t>
                      </a:r>
                      <a:r>
                        <a:rPr lang="fr-MG" sz="1100" dirty="0">
                          <a:effectLst/>
                        </a:rPr>
                        <a:t>, installation, mise en service, </a:t>
                      </a:r>
                      <a:r>
                        <a:rPr lang="fr-FR" sz="1100" dirty="0">
                          <a:effectLst/>
                        </a:rPr>
                        <a:t>assistance client …</a:t>
                      </a:r>
                      <a:endParaRPr lang="fr-MG" sz="11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222666"/>
                  </a:ext>
                </a:extLst>
              </a:tr>
              <a:tr h="93004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200" dirty="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G" sz="1200" b="1" u="sng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Brève description</a:t>
                      </a: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  <a:p>
                      <a:pPr>
                        <a:buNone/>
                      </a:pPr>
                      <a:endParaRPr lang="fr-MG" sz="12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100" dirty="0">
                          <a:effectLst/>
                        </a:rPr>
                        <a:t>Fournir un descriptif détaillé du besoin, des équipements concernés, des éventuelles contraintes et de l’objectif de l’intervention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00075"/>
                  </a:ext>
                </a:extLst>
              </a:tr>
              <a:tr h="5946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u="sng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Adresse du site </a:t>
                      </a:r>
                      <a:r>
                        <a:rPr lang="fr-MG" sz="1200" b="1" u="sng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d’intervention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100" dirty="0">
                          <a:effectLst/>
                        </a:rPr>
                        <a:t>Localisation exacte du site et coordonnées GPS si disponibles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600979"/>
                  </a:ext>
                </a:extLst>
              </a:tr>
              <a:tr h="2816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G" sz="1200" b="1" u="sng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Niveau de priorité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G" sz="1100" dirty="0">
                          <a:effectLst/>
                        </a:rPr>
                        <a:t>Normal / Urgent / Critique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06960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15249F0B-B575-98DE-4C35-2F7BEECD9779}"/>
              </a:ext>
            </a:extLst>
          </p:cNvPr>
          <p:cNvSpPr/>
          <p:nvPr/>
        </p:nvSpPr>
        <p:spPr>
          <a:xfrm>
            <a:off x="1341726" y="349292"/>
            <a:ext cx="2875415" cy="391372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FORMULAIRE DE DEMANDE DE 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7BAF9-216E-483D-9C14-9D0047E44059}"/>
              </a:ext>
            </a:extLst>
          </p:cNvPr>
          <p:cNvSpPr/>
          <p:nvPr/>
        </p:nvSpPr>
        <p:spPr>
          <a:xfrm>
            <a:off x="5610187" y="862863"/>
            <a:ext cx="6445834" cy="3681415"/>
          </a:xfrm>
          <a:prstGeom prst="roundRect">
            <a:avLst>
              <a:gd name="adj" fmla="val 8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Afin de garantir une planification efficace et une bonne exécution des interventions, toute demande adressée au Service Technique doit respecter les règles suivantes :</a:t>
            </a:r>
          </a:p>
          <a:p>
            <a:endParaRPr lang="fr-FR" sz="11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100" dirty="0">
                <a:solidFill>
                  <a:schemeClr val="tx1"/>
                </a:solidFill>
              </a:rPr>
              <a:t>Un formulaire de demande dûment rempli est obligatoire pour toute demande au sein du service technique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11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100" dirty="0">
                <a:solidFill>
                  <a:schemeClr val="tx1"/>
                </a:solidFill>
              </a:rPr>
              <a:t>Toute demande doit être envoyée au minimum un jour avant l’intervention; sauf pour le dépannage et SAV, qui seront traitées en fonction de leur niveau d’urgence.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11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100" dirty="0">
                <a:solidFill>
                  <a:schemeClr val="tx1"/>
                </a:solidFill>
              </a:rPr>
              <a:t>Le Service Technique doit être informé par e-mail dès qu’un devis est validé par le client.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11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100" dirty="0">
                <a:solidFill>
                  <a:schemeClr val="tx1"/>
                </a:solidFill>
              </a:rPr>
              <a:t>Le commercial responsable doit vérifier la disponibilité et la complétude de tous les matériels nécessaires (stock ou achat local) avant le démarrage des travaux.</a:t>
            </a:r>
          </a:p>
          <a:p>
            <a:endParaRPr lang="fr-FR" sz="11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100" dirty="0">
                <a:solidFill>
                  <a:schemeClr val="tx1"/>
                </a:solidFill>
              </a:rPr>
              <a:t>Le planning des travaux est communiqué sous 2 à 3 jours après réception de la validation du client.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7CEFB6-675E-DC0E-D4C4-77AE7452F54B}"/>
              </a:ext>
            </a:extLst>
          </p:cNvPr>
          <p:cNvSpPr/>
          <p:nvPr/>
        </p:nvSpPr>
        <p:spPr>
          <a:xfrm>
            <a:off x="7576037" y="349292"/>
            <a:ext cx="2514133" cy="293183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38" dirty="0">
                <a:solidFill>
                  <a:schemeClr val="bg1"/>
                </a:solidFill>
              </a:rPr>
              <a:t>CONDITION</a:t>
            </a:r>
          </a:p>
        </p:txBody>
      </p:sp>
    </p:spTree>
    <p:extLst>
      <p:ext uri="{BB962C8B-B14F-4D97-AF65-F5344CB8AC3E}">
        <p14:creationId xmlns:p14="http://schemas.microsoft.com/office/powerpoint/2010/main" val="35713548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600</Words>
  <Application>Microsoft Office PowerPoint</Application>
  <PresentationFormat>Grand écran</PresentationFormat>
  <Paragraphs>185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COPILOT</dc:creator>
  <cp:lastModifiedBy>Angela AINA</cp:lastModifiedBy>
  <cp:revision>9</cp:revision>
  <dcterms:created xsi:type="dcterms:W3CDTF">2026-07-03T06:45:55Z</dcterms:created>
  <dcterms:modified xsi:type="dcterms:W3CDTF">2026-07-03T08:25:27Z</dcterms:modified>
</cp:coreProperties>
</file>